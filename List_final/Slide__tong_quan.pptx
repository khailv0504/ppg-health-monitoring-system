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1365" cy="6858000"/>
  <p:notesSz cx="6858000" cy="12191365"/>
  <p:embeddedFontLst>
    <p:embeddedFont>
      <p:font typeface="Noto Sans" panose="020B0502040504020204" pitchFamily="34" charset="0"/>
      <p:regular r:id="rId17"/>
    </p:embeddedFont>
    <p:embeddedFont>
      <p:font typeface="Noto Sans" panose="020B0502040504020204" pitchFamily="34" charset="-122"/>
      <p:regular r:id="rId18"/>
    </p:embeddedFont>
    <p:embeddedFont>
      <p:font typeface="Noto Sans" panose="020B0502040504020204" pitchFamily="34" charset="-120"/>
      <p:regular r:id="rId19"/>
    </p:embeddedFont>
    <p:embeddedFont>
      <p:font typeface="Big Shoulders ExtraBold" pitchFamily="34" charset="0"/>
      <p:bold r:id="rId20"/>
    </p:embeddedFont>
    <p:embeddedFont>
      <p:font typeface="Big Shoulders ExtraBold" pitchFamily="34" charset="-122"/>
      <p:bold r:id="rId21"/>
    </p:embeddedFont>
    <p:embeddedFont>
      <p:font typeface="Big Shoulders ExtraBold" pitchFamily="34" charset="-120"/>
      <p:bold r:id="rId22"/>
    </p:embeddedFont>
    <p:embeddedFont>
      <p:font typeface="Hanken Grotesk Bold" pitchFamily="34" charset="0"/>
      <p:bold r:id="rId23"/>
    </p:embeddedFont>
    <p:embeddedFont>
      <p:font typeface="Hanken Grotesk Bold" pitchFamily="34" charset="-122"/>
      <p:bold r:id="rId24"/>
    </p:embeddedFont>
    <p:embeddedFont>
      <p:font typeface="Hanken Grotesk Bold" pitchFamily="34" charset="-120"/>
      <p:bold r:id="rId25"/>
    </p:embeddedFont>
    <p:embeddedFont>
      <p:font typeface="Hanken Grotesk" pitchFamily="34" charset="0"/>
      <p:regular r:id="rId26"/>
    </p:embeddedFont>
    <p:embeddedFont>
      <p:font typeface="Hanken Grotesk" pitchFamily="34" charset="-122"/>
      <p:regular r:id="rId27"/>
    </p:embeddedFont>
    <p:embeddedFont>
      <p:font typeface="Hanken Grotesk" pitchFamily="34" charset="-120"/>
      <p:regular r:id="rId28"/>
    </p:embeddedFont>
    <p:embeddedFont>
      <p:font typeface="Noto Sans Medium" panose="020B0502040504020204" pitchFamily="34" charset="0"/>
      <p:regular r:id="rId29"/>
    </p:embeddedFont>
    <p:embeddedFont>
      <p:font typeface="Noto Sans Medium" panose="020B0502040504020204" pitchFamily="34" charset="-122"/>
      <p:regular r:id="rId30"/>
    </p:embeddedFont>
    <p:embeddedFont>
      <p:font typeface="Noto Sans Medium" panose="020B0502040504020204" pitchFamily="34" charset="-120"/>
      <p:regular r:id="rId31"/>
    </p:embeddedFont>
    <p:embeddedFont>
      <p:font typeface="Calibri" panose="020F0502020204030204" charset="0"/>
      <p:regular r:id="rId32"/>
      <p:bold r:id="rId33"/>
      <p:italic r:id="rId34"/>
      <p:boldItalic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font" Target="fonts/font19.fntdata"/><Relationship Id="rId34" Type="http://schemas.openxmlformats.org/officeDocument/2006/relationships/font" Target="fonts/font18.fntdata"/><Relationship Id="rId33" Type="http://schemas.openxmlformats.org/officeDocument/2006/relationships/font" Target="fonts/font17.fntdata"/><Relationship Id="rId32" Type="http://schemas.openxmlformats.org/officeDocument/2006/relationships/font" Target="fonts/font16.fntdata"/><Relationship Id="rId31" Type="http://schemas.openxmlformats.org/officeDocument/2006/relationships/font" Target="fonts/font15.fntdata"/><Relationship Id="rId30" Type="http://schemas.openxmlformats.org/officeDocument/2006/relationships/font" Target="fonts/font14.fntdata"/><Relationship Id="rId3" Type="http://schemas.openxmlformats.org/officeDocument/2006/relationships/slide" Target="slides/slide1.xml"/><Relationship Id="rId29" Type="http://schemas.openxmlformats.org/officeDocument/2006/relationships/font" Target="fonts/font13.fntdata"/><Relationship Id="rId28" Type="http://schemas.openxmlformats.org/officeDocument/2006/relationships/font" Target="fonts/font12.fntdata"/><Relationship Id="rId27" Type="http://schemas.openxmlformats.org/officeDocument/2006/relationships/font" Target="fonts/font11.fntdata"/><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BFAF6"/>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908627" cy="6858099"/>
          </a:xfrm>
          <a:prstGeom prst="rect">
            <a:avLst/>
          </a:prstGeom>
          <a:solidFill>
            <a:srgbClr val="FF8424"/>
          </a:solidFill>
        </p:spPr>
      </p:sp>
      <p:sp>
        <p:nvSpPr>
          <p:cNvPr id="3" name="Text 1"/>
          <p:cNvSpPr/>
          <p:nvPr/>
        </p:nvSpPr>
        <p:spPr>
          <a:xfrm>
            <a:off x="609585" y="649188"/>
            <a:ext cx="6851479" cy="301625"/>
          </a:xfrm>
          <a:prstGeom prst="rect">
            <a:avLst/>
          </a:prstGeom>
          <a:noFill/>
        </p:spPr>
        <p:txBody>
          <a:bodyPr wrap="none" lIns="0" tIns="0" rIns="0" bIns="0" rtlCol="0" anchor="t"/>
          <a:lstStyle/>
          <a:p>
            <a:pPr marL="0" indent="0" algn="l">
              <a:lnSpc>
                <a:spcPct val="104000"/>
              </a:lnSpc>
              <a:buNone/>
            </a:pPr>
            <a:r>
              <a:rPr lang="en-US" sz="1900" kern="100" spc="19" dirty="0">
                <a:solidFill>
                  <a:srgbClr val="000000"/>
                </a:solidFill>
                <a:latin typeface="Noto Sans" panose="020B0502040504020204" pitchFamily="34" charset="0"/>
                <a:ea typeface="Noto Sans" panose="020B0502040504020204" pitchFamily="34" charset="-122"/>
                <a:cs typeface="Noto Sans" panose="020B0502040504020204" pitchFamily="34" charset="-120"/>
              </a:rPr>
              <a:t>Trường ĐH Công nghệ Kỹ thuật TP.HCM</a:t>
            </a:r>
            <a:endParaRPr lang="en-US" sz="1900" dirty="0"/>
          </a:p>
        </p:txBody>
      </p:sp>
      <p:sp>
        <p:nvSpPr>
          <p:cNvPr id="4" name="Text 2"/>
          <p:cNvSpPr/>
          <p:nvPr/>
        </p:nvSpPr>
        <p:spPr>
          <a:xfrm>
            <a:off x="609585" y="1917515"/>
            <a:ext cx="7129780" cy="1028105"/>
          </a:xfrm>
          <a:prstGeom prst="rect">
            <a:avLst/>
          </a:prstGeom>
          <a:noFill/>
        </p:spPr>
        <p:txBody>
          <a:bodyPr wrap="none" lIns="0" tIns="0" rIns="0" bIns="0" rtlCol="0" anchor="t"/>
          <a:lstStyle/>
          <a:p>
            <a:pPr marL="0" indent="0" algn="l">
              <a:lnSpc>
                <a:spcPct val="77000"/>
              </a:lnSpc>
              <a:buNone/>
            </a:pPr>
            <a:r>
              <a:rPr lang="en-US" sz="8800" dirty="0">
                <a:solidFill>
                  <a:srgbClr val="000000"/>
                </a:solidFill>
                <a:latin typeface="Big Shoulders ExtraBold" pitchFamily="34" charset="0"/>
                <a:ea typeface="Big Shoulders ExtraBold" pitchFamily="34" charset="-122"/>
                <a:cs typeface="Big Shoulders ExtraBold" pitchFamily="34" charset="-120"/>
              </a:rPr>
              <a:t>TÍN HIỆU PPG</a:t>
            </a:r>
            <a:endParaRPr lang="en-US" sz="8800" dirty="0"/>
          </a:p>
        </p:txBody>
      </p:sp>
      <p:sp>
        <p:nvSpPr>
          <p:cNvPr id="5" name="Text 3"/>
          <p:cNvSpPr/>
          <p:nvPr/>
        </p:nvSpPr>
        <p:spPr>
          <a:xfrm>
            <a:off x="609585" y="2865848"/>
            <a:ext cx="5733907" cy="642541"/>
          </a:xfrm>
          <a:prstGeom prst="rect">
            <a:avLst/>
          </a:prstGeom>
          <a:noFill/>
        </p:spPr>
        <p:txBody>
          <a:bodyPr wrap="square" lIns="0" tIns="0" rIns="0" bIns="0" rtlCol="0" anchor="t">
            <a:normAutofit/>
          </a:bodyPr>
          <a:lstStyle/>
          <a:p>
            <a:pPr marL="0" indent="0" algn="l">
              <a:lnSpc>
                <a:spcPct val="96000"/>
              </a:lnSpc>
              <a:buNone/>
            </a:pPr>
            <a:r>
              <a:rPr lang="en-US" sz="2200" b="1" kern="100" spc="-11" dirty="0">
                <a:solidFill>
                  <a:srgbClr val="000000"/>
                </a:solidFill>
                <a:latin typeface="Hanken Grotesk Bold" pitchFamily="34" charset="0"/>
                <a:ea typeface="Hanken Grotesk Bold" pitchFamily="34" charset="-122"/>
                <a:cs typeface="Hanken Grotesk Bold" pitchFamily="34" charset="-120"/>
              </a:rPr>
              <a:t>Hệ thống giám sát nhịp tim – SpO₂&amp; CNN–LSTM trên thiết bị biên</a:t>
            </a:r>
            <a:endParaRPr lang="en-US" sz="2200" dirty="0"/>
          </a:p>
        </p:txBody>
      </p:sp>
      <p:sp>
        <p:nvSpPr>
          <p:cNvPr id="6" name="Text 4"/>
          <p:cNvSpPr/>
          <p:nvPr/>
        </p:nvSpPr>
        <p:spPr>
          <a:xfrm>
            <a:off x="609585" y="5507534"/>
            <a:ext cx="5733907" cy="825500"/>
          </a:xfrm>
          <a:prstGeom prst="rect">
            <a:avLst/>
          </a:prstGeom>
          <a:noFill/>
        </p:spPr>
        <p:txBody>
          <a:bodyPr wrap="square" lIns="0" tIns="0" rIns="0" bIns="0" rtlCol="0" anchor="t">
            <a:normAutofit/>
          </a:bodyPr>
          <a:lstStyle/>
          <a:p>
            <a:pPr marL="0" indent="0" algn="l">
              <a:lnSpc>
                <a:spcPct val="104000"/>
              </a:lnSpc>
              <a:buNone/>
            </a:pPr>
            <a:r>
              <a:rPr lang="en-US" sz="1300" kern="100" spc="13" dirty="0">
                <a:solidFill>
                  <a:srgbClr val="000000"/>
                </a:solidFill>
                <a:latin typeface="Noto Sans" panose="020B0502040504020204" pitchFamily="34" charset="0"/>
                <a:ea typeface="Noto Sans" panose="020B0502040504020204" pitchFamily="34" charset="-122"/>
                <a:cs typeface="Noto Sans" panose="020B0502040504020204" pitchFamily="34" charset="-120"/>
              </a:rPr>
              <a:t>SVTH: Trịnh Công Minh · Phạm Ngọc Bảo Lâm · Lưu Quang Tiến · Trần Hoàng Hải · Lê Văn Khải</a:t>
            </a:r>
            <a:endParaRPr lang="en-US" sz="1300" dirty="0"/>
          </a:p>
          <a:p>
            <a:pPr marL="0" indent="0" algn="l">
              <a:lnSpc>
                <a:spcPct val="104000"/>
              </a:lnSpc>
              <a:buNone/>
            </a:pPr>
            <a:r>
              <a:rPr lang="en-US" sz="1300" kern="100" spc="13" dirty="0">
                <a:solidFill>
                  <a:srgbClr val="16171D"/>
                </a:solidFill>
                <a:latin typeface="Noto Sans" panose="020B0502040504020204" pitchFamily="34" charset="0"/>
                <a:ea typeface="Noto Sans" panose="020B0502040504020204" pitchFamily="34" charset="-122"/>
                <a:cs typeface="Noto Sans" panose="020B0502040504020204" pitchFamily="34" charset="-120"/>
              </a:rPr>
              <a:t> </a:t>
            </a:r>
            <a:endParaRPr lang="en-US" sz="1300" dirty="0"/>
          </a:p>
          <a:p>
            <a:pPr marL="0" indent="0" algn="l">
              <a:lnSpc>
                <a:spcPct val="104000"/>
              </a:lnSpc>
              <a:buNone/>
            </a:pPr>
            <a:r>
              <a:rPr lang="en-US" sz="1300" kern="100" spc="13" dirty="0">
                <a:solidFill>
                  <a:srgbClr val="000000"/>
                </a:solidFill>
                <a:latin typeface="Noto Sans" panose="020B0502040504020204" pitchFamily="34" charset="0"/>
                <a:ea typeface="Noto Sans" panose="020B0502040504020204" pitchFamily="34" charset="-122"/>
                <a:cs typeface="Noto Sans" panose="020B0502040504020204" pitchFamily="34" charset="-120"/>
              </a:rPr>
              <a:t>GVHD: ThS. Huỳnh Hoàng Hà</a:t>
            </a:r>
            <a:endParaRPr lang="en-US" sz="1300" dirty="0"/>
          </a:p>
        </p:txBody>
      </p:sp>
      <p:pic>
        <p:nvPicPr>
          <p:cNvPr id="7" name="Image 0" descr="preencoded.png"/>
          <p:cNvPicPr>
            <a:picLocks noChangeAspect="1"/>
          </p:cNvPicPr>
          <p:nvPr/>
        </p:nvPicPr>
        <p:blipFill>
          <a:blip r:embed="rId1"/>
          <a:stretch>
            <a:fillRect/>
          </a:stretch>
        </p:blipFill>
        <p:spPr>
          <a:xfrm>
            <a:off x="6908627" y="0"/>
            <a:ext cx="5283068" cy="68580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447323"/>
            <a:ext cx="6495887" cy="554930"/>
          </a:xfrm>
          <a:prstGeom prst="rect">
            <a:avLst/>
          </a:prstGeom>
          <a:noFill/>
        </p:spPr>
        <p:txBody>
          <a:bodyPr wrap="none" lIns="0" tIns="0" rIns="0" bIns="0" rtlCol="0" anchor="t"/>
          <a:lstStyle/>
          <a:p>
            <a:pPr marL="0" indent="0" algn="l">
              <a:lnSpc>
                <a:spcPct val="79000"/>
              </a:lnSpc>
              <a:buNone/>
            </a:pPr>
            <a:r>
              <a:rPr lang="en-US" sz="4600" kern="100" spc="23" dirty="0">
                <a:solidFill>
                  <a:srgbClr val="16171D"/>
                </a:solidFill>
                <a:latin typeface="Big Shoulders ExtraBold" pitchFamily="34" charset="0"/>
                <a:ea typeface="Big Shoulders ExtraBold" pitchFamily="34" charset="-122"/>
                <a:cs typeface="Big Shoulders ExtraBold" pitchFamily="34" charset="-120"/>
              </a:rPr>
              <a:t>TỔNG QUAN VỀ 2 ĐỀ TÀI</a:t>
            </a:r>
            <a:endParaRPr lang="en-US" sz="4600" dirty="0"/>
          </a:p>
        </p:txBody>
      </p:sp>
      <p:sp>
        <p:nvSpPr>
          <p:cNvPr id="3" name="Text 1"/>
          <p:cNvSpPr/>
          <p:nvPr/>
        </p:nvSpPr>
        <p:spPr>
          <a:xfrm>
            <a:off x="609585" y="1093192"/>
            <a:ext cx="7664258" cy="198438"/>
          </a:xfrm>
          <a:prstGeom prst="rect">
            <a:avLst/>
          </a:prstGeom>
          <a:noFill/>
        </p:spPr>
        <p:txBody>
          <a:bodyPr wrap="none" lIns="0" tIns="0" rIns="0" bIns="0" rtlCol="0" anchor="t"/>
          <a:lstStyle/>
          <a:p>
            <a:pPr marL="0" indent="0" algn="l">
              <a:lnSpc>
                <a:spcPct val="104000"/>
              </a:lnSpc>
              <a:buNone/>
            </a:pPr>
            <a:r>
              <a:rPr lang="en-US" sz="1250" kern="100" spc="12" dirty="0">
                <a:solidFill>
                  <a:srgbClr val="16171D"/>
                </a:solidFill>
                <a:latin typeface="Noto Sans" panose="020B0502040504020204" pitchFamily="34" charset="0"/>
                <a:ea typeface="Noto Sans" panose="020B0502040504020204" pitchFamily="34" charset="-122"/>
                <a:cs typeface="Noto Sans" panose="020B0502040504020204" pitchFamily="34" charset="-120"/>
              </a:rPr>
              <a:t>So sánh tổng quan · Quang thể tích đồ (PPG)</a:t>
            </a:r>
            <a:endParaRPr lang="en-US" sz="1250" dirty="0"/>
          </a:p>
        </p:txBody>
      </p:sp>
      <p:graphicFrame>
        <p:nvGraphicFramePr>
          <p:cNvPr id="4" name="Table 0"/>
          <p:cNvGraphicFramePr>
            <a:graphicFrameLocks noGrp="1"/>
          </p:cNvGraphicFramePr>
          <p:nvPr/>
        </p:nvGraphicFramePr>
        <p:xfrm>
          <a:off x="609585" y="1454944"/>
          <a:ext cx="6553036" cy="4963096"/>
        </p:xfrm>
        <a:graphic>
          <a:graphicData uri="http://schemas.openxmlformats.org/drawingml/2006/table">
            <a:tbl>
              <a:tblPr/>
              <a:tblGrid>
                <a:gridCol w="1572721"/>
                <a:gridCol w="2490058"/>
                <a:gridCol w="2490257"/>
              </a:tblGrid>
              <a:tr h="808811">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Tiêu chí</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38935" marB="138935" anchor="ctr">
                    <a:lnL w="12700" cap="flat" cmpd="sng" algn="ctr">
                      <a:solidFill>
                        <a:srgbClr val="16171D"/>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Đề tài 1: Giám sát nhịp tim và SpO₂</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38935" marB="138935"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Đề tài 2: Học sâu trên thiết bị biên</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38935" marB="138935" anchor="ctr">
                    <a:lnL w="12700" cap="flat" cmpd="sng" algn="ctr">
                      <a:solidFill>
                        <a:srgbClr val="FBFAF6"/>
                      </a:solidFill>
                      <a:prstDash val="solid"/>
                      <a:round/>
                      <a:headEnd type="none" w="med" len="med"/>
                      <a:tailEnd type="none" w="med" len="med"/>
                    </a:lnL>
                    <a:lnR w="12700" cap="flat" cmpd="sng" algn="ctr">
                      <a:solidFill>
                        <a:srgbClr val="16171D"/>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r>
              <a:tr h="1389028">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Vấn đề</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70048" marB="170048" anchor="ctr">
                    <a:lnL w="12700" cap="flat" cmpd="sng" algn="ctr">
                      <a:solidFill>
                        <a:srgbClr val="16171D"/>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Thiết bị chỉ hiển thị tại chỗ, thiếu lưu trữ và cảnh báo từ xa</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70048" marB="170048"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AI chính xác khó chạy trên vi điều khiển hạn chế bộ nhớ và năng lượng</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70048" marB="170048" anchor="ctr">
                    <a:lnL w="12700" cap="flat" cmpd="sng" algn="ctr">
                      <a:solidFill>
                        <a:srgbClr val="FBFAF6"/>
                      </a:solidFill>
                      <a:prstDash val="solid"/>
                      <a:round/>
                      <a:headEnd type="none" w="med" len="med"/>
                      <a:tailEnd type="none" w="med" len="med"/>
                    </a:lnL>
                    <a:lnR w="12700" cap="flat" cmpd="sng" algn="ctr">
                      <a:solidFill>
                        <a:srgbClr val="16171D"/>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r>
              <a:tr h="1389028">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Giải pháp</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70048" marB="170048" anchor="ctr">
                    <a:lnL w="12700" cap="flat" cmpd="sng" algn="ctr">
                      <a:solidFill>
                        <a:srgbClr val="16171D"/>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ESP32 và MAX30102, Firebase, ứng dụng React Native, cảnh báo SOS</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70048" marB="170048"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Mô hình CNN–LSTM trên PPG thô, lượng tử hóa, TensorFlow Lite</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70048" marB="170048" anchor="ctr">
                    <a:lnL w="12700" cap="flat" cmpd="sng" algn="ctr">
                      <a:solidFill>
                        <a:srgbClr val="FBFAF6"/>
                      </a:solidFill>
                      <a:prstDash val="solid"/>
                      <a:round/>
                      <a:headEnd type="none" w="med" len="med"/>
                      <a:tailEnd type="none" w="med" len="med"/>
                    </a:lnL>
                    <a:lnR w="12700" cap="flat" cmpd="sng" algn="ctr">
                      <a:solidFill>
                        <a:srgbClr val="16171D"/>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r>
              <a:tr h="1376229">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Kết quả chính</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70048" marB="170048" anchor="ctr">
                    <a:lnL w="12700" cap="flat" cmpd="sng" algn="ctr">
                      <a:solidFill>
                        <a:srgbClr val="16171D"/>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SpO₂ 98–99%, đo khớp máy chuyên dụng, truyền dưới 1 giây</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70048" marB="170048"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c>
                  <a:txBody>
                    <a:bodyPr/>
                    <a:lstStyle/>
                    <a:p>
                      <a:pPr marL="0" indent="0" algn="l">
                        <a:buNone/>
                      </a:pPr>
                      <a:r>
                        <a:rPr lang="en-US" sz="1700" dirty="0">
                          <a:solidFill>
                            <a:srgbClr val="16171D"/>
                          </a:solidFill>
                          <a:latin typeface="Hanken Grotesk" pitchFamily="34" charset="0"/>
                          <a:ea typeface="Hanken Grotesk" pitchFamily="34" charset="-122"/>
                          <a:cs typeface="Hanken Grotesk" pitchFamily="34" charset="-120"/>
                        </a:rPr>
                        <a:t>MAE 0,54 BPM, mô hình 63,5 KiB (giảm khoảng 50%), suy luận 1,663 ms</a:t>
                      </a:r>
                      <a:endParaRPr lang="en-US" sz="1700" dirty="0">
                        <a:solidFill>
                          <a:srgbClr val="16171D"/>
                        </a:solidFill>
                        <a:latin typeface="Hanken Grotesk" pitchFamily="34" charset="0"/>
                        <a:ea typeface="Hanken Grotesk" pitchFamily="34" charset="-122"/>
                        <a:cs typeface="Hanken Grotesk" pitchFamily="34" charset="-120"/>
                      </a:endParaRPr>
                    </a:p>
                  </a:txBody>
                  <a:tcPr marL="126997" marR="126997" marT="170048" marB="170048" anchor="ctr">
                    <a:lnL w="12700" cap="flat" cmpd="sng" algn="ctr">
                      <a:solidFill>
                        <a:srgbClr val="FBFAF6"/>
                      </a:solidFill>
                      <a:prstDash val="solid"/>
                      <a:round/>
                      <a:headEnd type="none" w="med" len="med"/>
                      <a:tailEnd type="none" w="med" len="med"/>
                    </a:lnL>
                    <a:lnR w="12700" cap="flat" cmpd="sng" algn="ctr">
                      <a:solidFill>
                        <a:srgbClr val="16171D"/>
                      </a:solidFill>
                      <a:prstDash val="solid"/>
                      <a:round/>
                      <a:headEnd type="none" w="med" len="med"/>
                      <a:tailEnd type="none" w="med" len="med"/>
                    </a:lnR>
                    <a:lnT w="12700" cap="flat" cmpd="sng" algn="ctr">
                      <a:solidFill>
                        <a:srgbClr val="16171D"/>
                      </a:solidFill>
                      <a:prstDash val="solid"/>
                      <a:round/>
                      <a:headEnd type="none" w="med" len="med"/>
                      <a:tailEnd type="none" w="med" len="med"/>
                    </a:lnT>
                    <a:lnB w="12700" cap="flat" cmpd="sng" algn="ctr">
                      <a:solidFill>
                        <a:srgbClr val="16171D"/>
                      </a:solidFill>
                      <a:prstDash val="solid"/>
                      <a:round/>
                      <a:headEnd type="none" w="med" len="med"/>
                      <a:tailEnd type="none" w="med" len="med"/>
                    </a:lnB>
                  </a:tcPr>
                </a:tc>
              </a:tr>
            </a:tbl>
          </a:graphicData>
        </a:graphic>
      </p:graphicFrame>
      <p:sp>
        <p:nvSpPr>
          <p:cNvPr id="5" name="Text 2"/>
          <p:cNvSpPr/>
          <p:nvPr/>
        </p:nvSpPr>
        <p:spPr>
          <a:xfrm>
            <a:off x="609585" y="6508619"/>
            <a:ext cx="7816059" cy="269677"/>
          </a:xfrm>
          <a:prstGeom prst="rect">
            <a:avLst/>
          </a:prstGeom>
          <a:noFill/>
        </p:spPr>
        <p:txBody>
          <a:bodyPr wrap="none" lIns="0" tIns="0" rIns="0" bIns="0" rtlCol="0" anchor="t"/>
          <a:lstStyle/>
          <a:p>
            <a:pPr marL="0" indent="0" algn="l">
              <a:lnSpc>
                <a:spcPct val="114000"/>
              </a:lnSpc>
              <a:buNone/>
            </a:pPr>
            <a:r>
              <a:rPr lang="en-US" sz="1550" dirty="0">
                <a:solidFill>
                  <a:srgbClr val="16171D"/>
                </a:solidFill>
                <a:latin typeface="Hanken Grotesk" pitchFamily="34" charset="0"/>
                <a:ea typeface="Hanken Grotesk" pitchFamily="34" charset="-122"/>
                <a:cs typeface="Hanken Grotesk" pitchFamily="34" charset="-120"/>
              </a:rPr>
              <a:t>Điểm chung: cả hai đều dựa trên tín hiệu PPG để ước tính nhịp tim.</a:t>
            </a:r>
            <a:endParaRPr lang="en-US" sz="1550" dirty="0"/>
          </a:p>
        </p:txBody>
      </p:sp>
      <p:pic>
        <p:nvPicPr>
          <p:cNvPr id="6" name="Image 0" descr="preencoded.png"/>
          <p:cNvPicPr>
            <a:picLocks noChangeAspect="1"/>
          </p:cNvPicPr>
          <p:nvPr/>
        </p:nvPicPr>
        <p:blipFill>
          <a:blip r:embed="rId1"/>
          <a:stretch>
            <a:fillRect/>
          </a:stretch>
        </p:blipFill>
        <p:spPr>
          <a:xfrm>
            <a:off x="7721407" y="0"/>
            <a:ext cx="4470288" cy="68580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487095"/>
            <a:ext cx="10915377" cy="434280"/>
          </a:xfrm>
          <a:prstGeom prst="rect">
            <a:avLst/>
          </a:prstGeom>
          <a:noFill/>
        </p:spPr>
        <p:txBody>
          <a:bodyPr wrap="none" lIns="0" tIns="0" rIns="0" bIns="0" rtlCol="0" anchor="t"/>
          <a:lstStyle/>
          <a:p>
            <a:pPr marL="0" indent="0" algn="l">
              <a:lnSpc>
                <a:spcPct val="79000"/>
              </a:lnSpc>
              <a:buNone/>
            </a:pPr>
            <a:r>
              <a:rPr lang="en-US" sz="3600" kern="100" spc="24" dirty="0">
                <a:solidFill>
                  <a:srgbClr val="16171D"/>
                </a:solidFill>
                <a:latin typeface="Big Shoulders ExtraBold" pitchFamily="34" charset="0"/>
                <a:ea typeface="Big Shoulders ExtraBold" pitchFamily="34" charset="-122"/>
                <a:cs typeface="Big Shoulders ExtraBold" pitchFamily="34" charset="-120"/>
              </a:rPr>
              <a:t>Thiết bị tại chỗ còn hạn chế, cần lưu trữ và cảnh báo từ xa</a:t>
            </a:r>
            <a:endParaRPr lang="en-US" sz="3600" dirty="0"/>
          </a:p>
        </p:txBody>
      </p:sp>
      <p:sp>
        <p:nvSpPr>
          <p:cNvPr id="3" name="Text 1"/>
          <p:cNvSpPr/>
          <p:nvPr/>
        </p:nvSpPr>
        <p:spPr>
          <a:xfrm>
            <a:off x="609585" y="1920081"/>
            <a:ext cx="11524962" cy="206375"/>
          </a:xfrm>
          <a:prstGeom prst="rect">
            <a:avLst/>
          </a:prstGeom>
          <a:noFill/>
        </p:spPr>
        <p:txBody>
          <a:bodyPr wrap="none" lIns="0" tIns="0" rIns="0" bIns="0" rtlCol="0" anchor="t"/>
          <a:lstStyle/>
          <a:p>
            <a:pPr marL="0" indent="0" algn="l">
              <a:lnSpc>
                <a:spcPct val="104000"/>
              </a:lnSpc>
              <a:buNone/>
            </a:pPr>
            <a:r>
              <a:rPr lang="en-US" sz="1300" kern="100" spc="13" dirty="0">
                <a:solidFill>
                  <a:srgbClr val="16171D"/>
                </a:solidFill>
                <a:latin typeface="Noto Sans" panose="020B0502040504020204" pitchFamily="34" charset="0"/>
                <a:ea typeface="Noto Sans" panose="020B0502040504020204" pitchFamily="34" charset="-122"/>
                <a:cs typeface="Noto Sans" panose="020B0502040504020204" pitchFamily="34" charset="-120"/>
              </a:rPr>
              <a:t>Nhu cầu giám sát liên tục &amp; phản ứng khẩn cấp</a:t>
            </a:r>
            <a:endParaRPr lang="en-US" sz="1300" dirty="0"/>
          </a:p>
        </p:txBody>
      </p:sp>
      <p:sp>
        <p:nvSpPr>
          <p:cNvPr id="4" name="Shape 2"/>
          <p:cNvSpPr/>
          <p:nvPr/>
        </p:nvSpPr>
        <p:spPr>
          <a:xfrm>
            <a:off x="609585" y="2413000"/>
            <a:ext cx="5384665" cy="2667000"/>
          </a:xfrm>
          <a:prstGeom prst="rect">
            <a:avLst/>
          </a:prstGeom>
          <a:noFill/>
          <a:ln w="19050">
            <a:solidFill>
              <a:srgbClr val="16171D"/>
            </a:solidFill>
            <a:prstDash val="solid"/>
          </a:ln>
        </p:spPr>
      </p:sp>
      <p:sp>
        <p:nvSpPr>
          <p:cNvPr id="5" name="Text 3"/>
          <p:cNvSpPr/>
          <p:nvPr/>
        </p:nvSpPr>
        <p:spPr>
          <a:xfrm>
            <a:off x="863578" y="2627789"/>
            <a:ext cx="5486263"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Hạn chế thiết bị cá nhân</a:t>
            </a:r>
            <a:endParaRPr lang="en-US" sz="1900" dirty="0"/>
          </a:p>
        </p:txBody>
      </p:sp>
      <p:sp>
        <p:nvSpPr>
          <p:cNvPr id="6" name="Text 4"/>
          <p:cNvSpPr/>
          <p:nvPr/>
        </p:nvSpPr>
        <p:spPr>
          <a:xfrm>
            <a:off x="863578" y="3149917"/>
            <a:ext cx="4819529" cy="1137841"/>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Phần lớn máy đo SpO₂kẹp tay thương mại chỉ hiển thị tại chỗ, không lưu lại lịch sử, thiếu khả năng đồng bộ theo thời gian thực và không thể tự động cảnh báo người thân hoặc bác sĩ khi chỉ số giảm sâu.</a:t>
            </a:r>
            <a:endParaRPr lang="en-US" sz="1600" dirty="0"/>
          </a:p>
        </p:txBody>
      </p:sp>
      <p:sp>
        <p:nvSpPr>
          <p:cNvPr id="7" name="Shape 5"/>
          <p:cNvSpPr/>
          <p:nvPr/>
        </p:nvSpPr>
        <p:spPr>
          <a:xfrm>
            <a:off x="6197445" y="2413000"/>
            <a:ext cx="5384665" cy="2667000"/>
          </a:xfrm>
          <a:prstGeom prst="rect">
            <a:avLst/>
          </a:prstGeom>
          <a:noFill/>
          <a:ln w="19050">
            <a:solidFill>
              <a:srgbClr val="16171D"/>
            </a:solidFill>
            <a:prstDash val="solid"/>
          </a:ln>
        </p:spPr>
      </p:sp>
      <p:sp>
        <p:nvSpPr>
          <p:cNvPr id="8" name="Text 6"/>
          <p:cNvSpPr/>
          <p:nvPr/>
        </p:nvSpPr>
        <p:spPr>
          <a:xfrm>
            <a:off x="6451439" y="2627789"/>
            <a:ext cx="5486263"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Nguyên lý đo quang học</a:t>
            </a:r>
            <a:endParaRPr lang="en-US" sz="1900" dirty="0"/>
          </a:p>
        </p:txBody>
      </p:sp>
      <p:sp>
        <p:nvSpPr>
          <p:cNvPr id="9" name="Text 7"/>
          <p:cNvSpPr/>
          <p:nvPr/>
        </p:nvSpPr>
        <p:spPr>
          <a:xfrm>
            <a:off x="6451439" y="3149917"/>
            <a:ext cx="4819529" cy="1422301"/>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Cảm biến MAX30102 phát chùm LED đỏ (660 nm) và hồng ngoại (880 nm) qua mô ngón tay. Độ hấp thụ quang khác nhau giữa Oxyhemoglobin (HbO₂) và Deoxyhemoglobin (Hb) cho phép tính toán chính xác SpO₂và nhịp tim.</a:t>
            </a:r>
            <a:endParaRPr lang="en-US" sz="1600" dirty="0"/>
          </a:p>
        </p:txBody>
      </p:sp>
      <p:sp>
        <p:nvSpPr>
          <p:cNvPr id="10" name="Shape 8"/>
          <p:cNvSpPr/>
          <p:nvPr/>
        </p:nvSpPr>
        <p:spPr>
          <a:xfrm>
            <a:off x="0" y="5334000"/>
            <a:ext cx="12191695" cy="1524000"/>
          </a:xfrm>
          <a:prstGeom prst="rect">
            <a:avLst/>
          </a:prstGeom>
          <a:solidFill>
            <a:srgbClr val="FF8424"/>
          </a:solidFill>
        </p:spPr>
      </p:sp>
      <p:sp>
        <p:nvSpPr>
          <p:cNvPr id="11" name="Text 9"/>
          <p:cNvSpPr/>
          <p:nvPr/>
        </p:nvSpPr>
        <p:spPr>
          <a:xfrm>
            <a:off x="609585" y="5650153"/>
            <a:ext cx="2990775" cy="420588"/>
          </a:xfrm>
          <a:prstGeom prst="rect">
            <a:avLst/>
          </a:prstGeom>
          <a:noFill/>
        </p:spPr>
        <p:txBody>
          <a:bodyPr wrap="none" lIns="0" tIns="0" rIns="0" bIns="0" rtlCol="0" anchor="t"/>
          <a:lstStyle/>
          <a:p>
            <a:pPr marL="0" indent="0" algn="l">
              <a:lnSpc>
                <a:spcPct val="77000"/>
              </a:lnSpc>
              <a:buNone/>
            </a:pPr>
            <a:r>
              <a:rPr lang="en-US" sz="3600" dirty="0">
                <a:solidFill>
                  <a:srgbClr val="000000"/>
                </a:solidFill>
                <a:latin typeface="Big Shoulders ExtraBold" pitchFamily="34" charset="0"/>
                <a:ea typeface="Big Shoulders ExtraBold" pitchFamily="34" charset="-122"/>
                <a:cs typeface="Big Shoulders ExtraBold" pitchFamily="34" charset="-120"/>
              </a:rPr>
              <a:t>MỤC TIÊU</a:t>
            </a:r>
            <a:endParaRPr lang="en-US" sz="3600" dirty="0"/>
          </a:p>
        </p:txBody>
      </p:sp>
      <p:sp>
        <p:nvSpPr>
          <p:cNvPr id="12" name="Text 10"/>
          <p:cNvSpPr/>
          <p:nvPr/>
        </p:nvSpPr>
        <p:spPr>
          <a:xfrm>
            <a:off x="3936902" y="5500403"/>
            <a:ext cx="7816654" cy="321270"/>
          </a:xfrm>
          <a:prstGeom prst="rect">
            <a:avLst/>
          </a:prstGeom>
          <a:noFill/>
        </p:spPr>
        <p:txBody>
          <a:bodyPr wrap="none" lIns="0" tIns="0" rIns="0" bIns="0" rtlCol="0" anchor="t"/>
          <a:lstStyle/>
          <a:p>
            <a:pPr marL="0" indent="0" algn="l">
              <a:lnSpc>
                <a:spcPct val="96000"/>
              </a:lnSpc>
              <a:buNone/>
            </a:pPr>
            <a:r>
              <a:rPr lang="en-US" sz="2200" b="1" kern="100" spc="-11" dirty="0">
                <a:solidFill>
                  <a:srgbClr val="000000"/>
                </a:solidFill>
                <a:latin typeface="Hanken Grotesk Bold" pitchFamily="34" charset="0"/>
                <a:ea typeface="Hanken Grotesk Bold" pitchFamily="34" charset="-122"/>
                <a:cs typeface="Hanken Grotesk Bold" pitchFamily="34" charset="-120"/>
              </a:rPr>
              <a:t>MAX30102 + ESP32</a:t>
            </a:r>
            <a:endParaRPr lang="en-US" sz="2200" dirty="0"/>
          </a:p>
        </p:txBody>
      </p:sp>
      <p:sp>
        <p:nvSpPr>
          <p:cNvPr id="13" name="Text 11"/>
          <p:cNvSpPr/>
          <p:nvPr/>
        </p:nvSpPr>
        <p:spPr>
          <a:xfrm>
            <a:off x="3936902" y="5842317"/>
            <a:ext cx="7816654"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000000"/>
                </a:solidFill>
                <a:latin typeface="Hanken Grotesk" pitchFamily="34" charset="0"/>
                <a:ea typeface="Hanken Grotesk" pitchFamily="34" charset="-122"/>
                <a:cs typeface="Hanken Grotesk" pitchFamily="34" charset="-120"/>
              </a:rPr>
              <a:t>Thu nhận tín hiệu thô, lọc nhiễu, hiển thị OLED SH1106 tại chỗ và đồng bộ dữ liệu thời gian thực lên Firebase.</a:t>
            </a:r>
            <a:endParaRPr lang="en-US" sz="1600" dirty="0"/>
          </a:p>
        </p:txBody>
      </p:sp>
      <p:sp>
        <p:nvSpPr>
          <p:cNvPr id="14" name="Text 12"/>
          <p:cNvSpPr/>
          <p:nvPr/>
        </p:nvSpPr>
        <p:spPr>
          <a:xfrm>
            <a:off x="3936902" y="6430327"/>
            <a:ext cx="8254793" cy="231080"/>
          </a:xfrm>
          <a:prstGeom prst="rect">
            <a:avLst/>
          </a:prstGeom>
          <a:noFill/>
        </p:spPr>
        <p:txBody>
          <a:bodyPr wrap="none" lIns="0" tIns="0" rIns="0" bIns="0" rtlCol="0" anchor="t"/>
          <a:lstStyle/>
          <a:p>
            <a:pPr marL="0" indent="0" algn="l">
              <a:lnSpc>
                <a:spcPct val="108000"/>
              </a:lnSpc>
              <a:buNone/>
            </a:pPr>
            <a:r>
              <a:rPr lang="en-US" sz="1400" kern="100" spc="7" dirty="0">
                <a:solidFill>
                  <a:srgbClr val="000000"/>
                </a:solidFill>
                <a:latin typeface="Hanken Grotesk" pitchFamily="34" charset="0"/>
                <a:ea typeface="Hanken Grotesk" pitchFamily="34" charset="-122"/>
                <a:cs typeface="Hanken Grotesk" pitchFamily="34" charset="-120"/>
              </a:rPr>
              <a:t>Đảm bảo cảnh báo tức thời khi nhịp tim hoặc SpO₂vượt ngưỡng an toàn.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527458"/>
            <a:ext cx="10915377" cy="1158081"/>
          </a:xfrm>
          <a:prstGeom prst="rect">
            <a:avLst/>
          </a:prstGeom>
          <a:noFill/>
        </p:spPr>
        <p:txBody>
          <a:bodyPr wrap="square" lIns="0" tIns="0" rIns="0" bIns="0" rtlCol="0" anchor="t">
            <a:normAutofit/>
          </a:bodyPr>
          <a:lstStyle/>
          <a:p>
            <a:pPr marL="0" indent="0" algn="l">
              <a:lnSpc>
                <a:spcPct val="79000"/>
              </a:lnSpc>
              <a:buNone/>
            </a:pPr>
            <a:r>
              <a:rPr lang="en-US" sz="4800" kern="100" spc="24" dirty="0">
                <a:solidFill>
                  <a:srgbClr val="16171D"/>
                </a:solidFill>
                <a:latin typeface="Big Shoulders ExtraBold" pitchFamily="34" charset="0"/>
                <a:ea typeface="Big Shoulders ExtraBold" pitchFamily="34" charset="-122"/>
                <a:cs typeface="Big Shoulders ExtraBold" pitchFamily="34" charset="-120"/>
              </a:rPr>
              <a:t>ĐỀ TÀI 1: KIẾN TRÚC 7 KHỐI, ESP32 VỪA ĐO VỪA ĐẨY DỮ LIỆU LÊN ĐÁM MÂY</a:t>
            </a:r>
            <a:endParaRPr lang="en-US" sz="4800" dirty="0"/>
          </a:p>
        </p:txBody>
      </p:sp>
      <p:sp>
        <p:nvSpPr>
          <p:cNvPr id="3" name="Text 1"/>
          <p:cNvSpPr/>
          <p:nvPr/>
        </p:nvSpPr>
        <p:spPr>
          <a:xfrm>
            <a:off x="609585" y="1848644"/>
            <a:ext cx="11582110" cy="206375"/>
          </a:xfrm>
          <a:prstGeom prst="rect">
            <a:avLst/>
          </a:prstGeom>
          <a:noFill/>
        </p:spPr>
        <p:txBody>
          <a:bodyPr wrap="none" lIns="0" tIns="0" rIns="0" bIns="0" rtlCol="0" anchor="t"/>
          <a:lstStyle/>
          <a:p>
            <a:pPr marL="0" indent="0" algn="l">
              <a:lnSpc>
                <a:spcPct val="104000"/>
              </a:lnSpc>
              <a:buNone/>
            </a:pPr>
            <a:r>
              <a:rPr lang="en-US" sz="1300" kern="100" spc="13" dirty="0">
                <a:solidFill>
                  <a:srgbClr val="16171D"/>
                </a:solidFill>
                <a:latin typeface="Noto Sans" panose="020B0502040504020204" pitchFamily="34" charset="0"/>
                <a:ea typeface="Noto Sans" panose="020B0502040504020204" pitchFamily="34" charset="-122"/>
                <a:cs typeface="Noto Sans" panose="020B0502040504020204" pitchFamily="34" charset="-120"/>
              </a:rPr>
              <a:t>Luồng kiến trúc phần cứng · Đám mây · Ứng dụng di động</a:t>
            </a:r>
            <a:endParaRPr lang="en-US" sz="1300" dirty="0"/>
          </a:p>
        </p:txBody>
      </p:sp>
      <p:sp>
        <p:nvSpPr>
          <p:cNvPr id="4" name="Shape 2"/>
          <p:cNvSpPr/>
          <p:nvPr/>
        </p:nvSpPr>
        <p:spPr>
          <a:xfrm>
            <a:off x="609585" y="2459831"/>
            <a:ext cx="355591" cy="355600"/>
          </a:xfrm>
          <a:prstGeom prst="ellipse">
            <a:avLst/>
          </a:prstGeom>
          <a:solidFill>
            <a:srgbClr val="16171D"/>
          </a:solidFill>
          <a:ln w="6350">
            <a:solidFill>
              <a:srgbClr val="D5D3CA"/>
            </a:solidFill>
            <a:prstDash val="solid"/>
          </a:ln>
        </p:spPr>
      </p:sp>
      <p:sp>
        <p:nvSpPr>
          <p:cNvPr id="5" name="Text 3"/>
          <p:cNvSpPr/>
          <p:nvPr/>
        </p:nvSpPr>
        <p:spPr>
          <a:xfrm>
            <a:off x="737574" y="2566194"/>
            <a:ext cx="1261535" cy="177800"/>
          </a:xfrm>
          <a:prstGeom prst="rect">
            <a:avLst/>
          </a:prstGeom>
          <a:noFill/>
        </p:spPr>
        <p:txBody>
          <a:bodyPr wrap="none" lIns="0" tIns="0" rIns="0" bIns="0" rtlCol="0" anchor="t"/>
          <a:lstStyle/>
          <a:p>
            <a:pPr marL="0" indent="0" algn="l">
              <a:lnSpc>
                <a:spcPct val="83000"/>
              </a:lnSpc>
              <a:buNone/>
            </a:pPr>
            <a:r>
              <a:rPr lang="en-US" sz="1400" b="1" dirty="0">
                <a:solidFill>
                  <a:srgbClr val="FFFFFF"/>
                </a:solidFill>
                <a:latin typeface="Hanken Grotesk Bold" pitchFamily="34" charset="0"/>
                <a:ea typeface="Hanken Grotesk Bold" pitchFamily="34" charset="-122"/>
                <a:cs typeface="Hanken Grotesk Bold" pitchFamily="34" charset="-120"/>
              </a:rPr>
              <a:t>1</a:t>
            </a:r>
            <a:endParaRPr lang="en-US" sz="1400" dirty="0"/>
          </a:p>
        </p:txBody>
      </p:sp>
      <p:sp>
        <p:nvSpPr>
          <p:cNvPr id="6" name="Text 4"/>
          <p:cNvSpPr/>
          <p:nvPr/>
        </p:nvSpPr>
        <p:spPr>
          <a:xfrm>
            <a:off x="609585" y="2970524"/>
            <a:ext cx="1954461" cy="321270"/>
          </a:xfrm>
          <a:prstGeom prst="rect">
            <a:avLst/>
          </a:prstGeom>
          <a:noFill/>
        </p:spPr>
        <p:txBody>
          <a:bodyPr wrap="none" lIns="0" tIns="0" rIns="0" bIns="0" rtlCol="0" anchor="t"/>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Thu nhận</a:t>
            </a:r>
            <a:endParaRPr lang="en-US" sz="2200" dirty="0"/>
          </a:p>
        </p:txBody>
      </p:sp>
      <p:sp>
        <p:nvSpPr>
          <p:cNvPr id="7" name="Text 5"/>
          <p:cNvSpPr/>
          <p:nvPr/>
        </p:nvSpPr>
        <p:spPr>
          <a:xfrm>
            <a:off x="609585" y="3420249"/>
            <a:ext cx="2564046"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MAX30102</a:t>
            </a:r>
            <a:endParaRPr lang="en-US" sz="1900" dirty="0"/>
          </a:p>
        </p:txBody>
      </p:sp>
      <p:sp>
        <p:nvSpPr>
          <p:cNvPr id="8" name="Text 6"/>
          <p:cNvSpPr/>
          <p:nvPr/>
        </p:nvSpPr>
        <p:spPr>
          <a:xfrm>
            <a:off x="609585" y="3840281"/>
            <a:ext cx="1954461"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Cảm biến (I2C); giao tiếp I2C tốc độ cao</a:t>
            </a:r>
            <a:endParaRPr lang="en-US" sz="1600" dirty="0"/>
          </a:p>
        </p:txBody>
      </p:sp>
      <p:sp>
        <p:nvSpPr>
          <p:cNvPr id="9" name="Text 7"/>
          <p:cNvSpPr/>
          <p:nvPr/>
        </p:nvSpPr>
        <p:spPr>
          <a:xfrm>
            <a:off x="2316402" y="4027349"/>
            <a:ext cx="1158151" cy="319980"/>
          </a:xfrm>
          <a:prstGeom prst="rect">
            <a:avLst/>
          </a:prstGeom>
          <a:noFill/>
        </p:spPr>
        <p:txBody>
          <a:bodyPr wrap="none" lIns="0" tIns="0" rIns="0" bIns="0" rtlCol="0" anchor="t"/>
          <a:lstStyle/>
          <a:p>
            <a:pPr marL="0" indent="0" algn="ctr">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a:t>
            </a:r>
            <a:endParaRPr lang="en-US" sz="1800" dirty="0"/>
          </a:p>
        </p:txBody>
      </p:sp>
      <p:sp>
        <p:nvSpPr>
          <p:cNvPr id="10" name="Shape 8"/>
          <p:cNvSpPr/>
          <p:nvPr/>
        </p:nvSpPr>
        <p:spPr>
          <a:xfrm>
            <a:off x="3169662" y="2459831"/>
            <a:ext cx="355591" cy="355600"/>
          </a:xfrm>
          <a:prstGeom prst="ellipse">
            <a:avLst/>
          </a:prstGeom>
          <a:solidFill>
            <a:srgbClr val="16171D"/>
          </a:solidFill>
          <a:ln w="6350">
            <a:solidFill>
              <a:srgbClr val="D5D3CA"/>
            </a:solidFill>
            <a:prstDash val="solid"/>
          </a:ln>
        </p:spPr>
      </p:sp>
      <p:sp>
        <p:nvSpPr>
          <p:cNvPr id="11" name="Text 9"/>
          <p:cNvSpPr/>
          <p:nvPr/>
        </p:nvSpPr>
        <p:spPr>
          <a:xfrm>
            <a:off x="3297651" y="2566194"/>
            <a:ext cx="1261535" cy="177800"/>
          </a:xfrm>
          <a:prstGeom prst="rect">
            <a:avLst/>
          </a:prstGeom>
          <a:noFill/>
        </p:spPr>
        <p:txBody>
          <a:bodyPr wrap="none" lIns="0" tIns="0" rIns="0" bIns="0" rtlCol="0" anchor="t"/>
          <a:lstStyle/>
          <a:p>
            <a:pPr marL="0" indent="0" algn="l">
              <a:lnSpc>
                <a:spcPct val="83000"/>
              </a:lnSpc>
              <a:buNone/>
            </a:pPr>
            <a:r>
              <a:rPr lang="en-US" sz="1400" b="1" dirty="0">
                <a:solidFill>
                  <a:srgbClr val="FFFFFF"/>
                </a:solidFill>
                <a:latin typeface="Hanken Grotesk Bold" pitchFamily="34" charset="0"/>
                <a:ea typeface="Hanken Grotesk Bold" pitchFamily="34" charset="-122"/>
                <a:cs typeface="Hanken Grotesk Bold" pitchFamily="34" charset="-120"/>
              </a:rPr>
              <a:t>2</a:t>
            </a:r>
            <a:endParaRPr lang="en-US" sz="1400" dirty="0"/>
          </a:p>
        </p:txBody>
      </p:sp>
      <p:sp>
        <p:nvSpPr>
          <p:cNvPr id="12" name="Text 10"/>
          <p:cNvSpPr/>
          <p:nvPr/>
        </p:nvSpPr>
        <p:spPr>
          <a:xfrm>
            <a:off x="3169662" y="2970524"/>
            <a:ext cx="2243081" cy="321270"/>
          </a:xfrm>
          <a:prstGeom prst="rect">
            <a:avLst/>
          </a:prstGeom>
          <a:noFill/>
        </p:spPr>
        <p:txBody>
          <a:bodyPr wrap="none" lIns="0" tIns="0" rIns="0" bIns="0" rtlCol="0" anchor="t"/>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Xử lý &amp; hiển thị</a:t>
            </a:r>
            <a:endParaRPr lang="en-US" sz="2200" dirty="0"/>
          </a:p>
        </p:txBody>
      </p:sp>
      <p:sp>
        <p:nvSpPr>
          <p:cNvPr id="13" name="Text 11"/>
          <p:cNvSpPr/>
          <p:nvPr/>
        </p:nvSpPr>
        <p:spPr>
          <a:xfrm>
            <a:off x="3169662" y="3420249"/>
            <a:ext cx="3202007"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ESP32 · Điều khiển</a:t>
            </a:r>
            <a:endParaRPr lang="en-US" sz="1900" dirty="0"/>
          </a:p>
        </p:txBody>
      </p:sp>
      <p:sp>
        <p:nvSpPr>
          <p:cNvPr id="14" name="Text 12"/>
          <p:cNvSpPr/>
          <p:nvPr/>
        </p:nvSpPr>
        <p:spPr>
          <a:xfrm>
            <a:off x="3169662" y="3840281"/>
            <a:ext cx="2137317"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Xử lý trung tâm: lọc nhiễu, tính BPM &amp; SpO₂</a:t>
            </a:r>
            <a:endParaRPr lang="en-US" sz="1600" dirty="0"/>
          </a:p>
        </p:txBody>
      </p:sp>
      <p:sp>
        <p:nvSpPr>
          <p:cNvPr id="15" name="Text 13"/>
          <p:cNvSpPr/>
          <p:nvPr/>
        </p:nvSpPr>
        <p:spPr>
          <a:xfrm>
            <a:off x="3169662" y="4638159"/>
            <a:ext cx="2746902"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OLED SH1106</a:t>
            </a:r>
            <a:endParaRPr lang="en-US" sz="1900" dirty="0"/>
          </a:p>
        </p:txBody>
      </p:sp>
      <p:sp>
        <p:nvSpPr>
          <p:cNvPr id="16" name="Text 14"/>
          <p:cNvSpPr/>
          <p:nvPr/>
        </p:nvSpPr>
        <p:spPr>
          <a:xfrm>
            <a:off x="3169662" y="5058092"/>
            <a:ext cx="2137317"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Hiển thị sóng &amp; chỉ số tại chỗ</a:t>
            </a:r>
            <a:endParaRPr lang="en-US" sz="1600" dirty="0"/>
          </a:p>
        </p:txBody>
      </p:sp>
      <p:sp>
        <p:nvSpPr>
          <p:cNvPr id="17" name="Text 15"/>
          <p:cNvSpPr/>
          <p:nvPr/>
        </p:nvSpPr>
        <p:spPr>
          <a:xfrm>
            <a:off x="5059534" y="4027349"/>
            <a:ext cx="1158151" cy="319980"/>
          </a:xfrm>
          <a:prstGeom prst="rect">
            <a:avLst/>
          </a:prstGeom>
          <a:noFill/>
        </p:spPr>
        <p:txBody>
          <a:bodyPr wrap="none" lIns="0" tIns="0" rIns="0" bIns="0" rtlCol="0" anchor="t"/>
          <a:lstStyle/>
          <a:p>
            <a:pPr marL="0" indent="0" algn="ctr">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a:t>
            </a:r>
            <a:endParaRPr lang="en-US" sz="1800" dirty="0"/>
          </a:p>
        </p:txBody>
      </p:sp>
      <p:sp>
        <p:nvSpPr>
          <p:cNvPr id="18" name="Shape 16"/>
          <p:cNvSpPr/>
          <p:nvPr/>
        </p:nvSpPr>
        <p:spPr>
          <a:xfrm>
            <a:off x="5912793" y="2231231"/>
            <a:ext cx="2560177" cy="3908127"/>
          </a:xfrm>
          <a:prstGeom prst="rect">
            <a:avLst/>
          </a:prstGeom>
          <a:solidFill>
            <a:srgbClr val="FF8424"/>
          </a:solidFill>
        </p:spPr>
      </p:sp>
      <p:sp>
        <p:nvSpPr>
          <p:cNvPr id="19" name="Shape 17"/>
          <p:cNvSpPr/>
          <p:nvPr/>
        </p:nvSpPr>
        <p:spPr>
          <a:xfrm>
            <a:off x="6141388" y="2459831"/>
            <a:ext cx="355591" cy="355600"/>
          </a:xfrm>
          <a:prstGeom prst="ellipse">
            <a:avLst/>
          </a:prstGeom>
          <a:solidFill>
            <a:srgbClr val="16171D"/>
          </a:solidFill>
          <a:ln w="6350">
            <a:solidFill>
              <a:srgbClr val="D5D3CA"/>
            </a:solidFill>
            <a:prstDash val="solid"/>
          </a:ln>
        </p:spPr>
      </p:sp>
      <p:sp>
        <p:nvSpPr>
          <p:cNvPr id="20" name="Text 18"/>
          <p:cNvSpPr/>
          <p:nvPr/>
        </p:nvSpPr>
        <p:spPr>
          <a:xfrm>
            <a:off x="6269377" y="2566194"/>
            <a:ext cx="1261535" cy="177800"/>
          </a:xfrm>
          <a:prstGeom prst="rect">
            <a:avLst/>
          </a:prstGeom>
          <a:noFill/>
        </p:spPr>
        <p:txBody>
          <a:bodyPr wrap="none" lIns="0" tIns="0" rIns="0" bIns="0" rtlCol="0" anchor="t"/>
          <a:lstStyle/>
          <a:p>
            <a:pPr marL="0" indent="0" algn="l">
              <a:lnSpc>
                <a:spcPct val="83000"/>
              </a:lnSpc>
              <a:buNone/>
            </a:pPr>
            <a:r>
              <a:rPr lang="en-US" sz="1400" b="1" dirty="0">
                <a:solidFill>
                  <a:srgbClr val="FFFFFF"/>
                </a:solidFill>
                <a:latin typeface="Hanken Grotesk Bold" pitchFamily="34" charset="0"/>
                <a:ea typeface="Hanken Grotesk Bold" pitchFamily="34" charset="-122"/>
                <a:cs typeface="Hanken Grotesk Bold" pitchFamily="34" charset="-120"/>
              </a:rPr>
              <a:t>3</a:t>
            </a:r>
            <a:endParaRPr lang="en-US" sz="1400" dirty="0"/>
          </a:p>
        </p:txBody>
      </p:sp>
      <p:sp>
        <p:nvSpPr>
          <p:cNvPr id="21" name="Text 19"/>
          <p:cNvSpPr/>
          <p:nvPr/>
        </p:nvSpPr>
        <p:spPr>
          <a:xfrm>
            <a:off x="6141388" y="2970524"/>
            <a:ext cx="2503822" cy="321270"/>
          </a:xfrm>
          <a:prstGeom prst="rect">
            <a:avLst/>
          </a:prstGeom>
          <a:noFill/>
        </p:spPr>
        <p:txBody>
          <a:bodyPr wrap="none" lIns="0" tIns="0" rIns="0" bIns="0" rtlCol="0" anchor="t"/>
          <a:lstStyle/>
          <a:p>
            <a:pPr marL="0" indent="0" algn="l">
              <a:lnSpc>
                <a:spcPct val="96000"/>
              </a:lnSpc>
              <a:buNone/>
            </a:pPr>
            <a:r>
              <a:rPr lang="en-US" sz="2200" b="1" kern="100" spc="-11" dirty="0">
                <a:solidFill>
                  <a:srgbClr val="000000"/>
                </a:solidFill>
                <a:latin typeface="Hanken Grotesk Bold" pitchFamily="34" charset="0"/>
                <a:ea typeface="Hanken Grotesk Bold" pitchFamily="34" charset="-122"/>
                <a:cs typeface="Hanken Grotesk Bold" pitchFamily="34" charset="-120"/>
              </a:rPr>
              <a:t>Wi-Fi · Firebase</a:t>
            </a:r>
            <a:endParaRPr lang="en-US" sz="2200" dirty="0"/>
          </a:p>
        </p:txBody>
      </p:sp>
      <p:sp>
        <p:nvSpPr>
          <p:cNvPr id="22" name="Text 20"/>
          <p:cNvSpPr/>
          <p:nvPr/>
        </p:nvSpPr>
        <p:spPr>
          <a:xfrm>
            <a:off x="6141388" y="3420249"/>
            <a:ext cx="2045839" cy="554831"/>
          </a:xfrm>
          <a:prstGeom prst="rect">
            <a:avLst/>
          </a:prstGeom>
          <a:noFill/>
        </p:spPr>
        <p:txBody>
          <a:bodyPr wrap="square" lIns="0" tIns="0" rIns="0" bIns="0" rtlCol="0" anchor="t">
            <a:normAutofit/>
          </a:bodyPr>
          <a:lstStyle/>
          <a:p>
            <a:pPr marL="0" indent="0" algn="l">
              <a:lnSpc>
                <a:spcPct val="96000"/>
              </a:lnSpc>
              <a:buNone/>
            </a:pPr>
            <a:r>
              <a:rPr lang="en-US" sz="1900" b="1" kern="100" spc="-9" dirty="0">
                <a:solidFill>
                  <a:srgbClr val="000000"/>
                </a:solidFill>
                <a:latin typeface="Hanken Grotesk Bold" pitchFamily="34" charset="0"/>
                <a:ea typeface="Hanken Grotesk Bold" pitchFamily="34" charset="-122"/>
                <a:cs typeface="Hanken Grotesk Bold" pitchFamily="34" charset="-120"/>
              </a:rPr>
              <a:t>health_data · 1,5 giây</a:t>
            </a:r>
            <a:endParaRPr lang="en-US" sz="1900" dirty="0"/>
          </a:p>
        </p:txBody>
      </p:sp>
      <p:sp>
        <p:nvSpPr>
          <p:cNvPr id="23" name="Text 21"/>
          <p:cNvSpPr/>
          <p:nvPr/>
        </p:nvSpPr>
        <p:spPr>
          <a:xfrm>
            <a:off x="6141388" y="4117598"/>
            <a:ext cx="2045839"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000000"/>
                </a:solidFill>
                <a:latin typeface="Hanken Grotesk" pitchFamily="34" charset="0"/>
                <a:ea typeface="Hanken Grotesk" pitchFamily="34" charset="-122"/>
                <a:cs typeface="Hanken Grotesk" pitchFamily="34" charset="-120"/>
              </a:rPr>
              <a:t>BPM, SpO₂, status, timestamp</a:t>
            </a:r>
            <a:endParaRPr lang="en-US" sz="1600" dirty="0"/>
          </a:p>
        </p:txBody>
      </p:sp>
      <p:sp>
        <p:nvSpPr>
          <p:cNvPr id="24" name="Text 22"/>
          <p:cNvSpPr/>
          <p:nvPr/>
        </p:nvSpPr>
        <p:spPr>
          <a:xfrm>
            <a:off x="6141388" y="4915476"/>
            <a:ext cx="2839173"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000000"/>
                </a:solidFill>
                <a:latin typeface="Hanken Grotesk Bold" pitchFamily="34" charset="0"/>
                <a:ea typeface="Hanken Grotesk Bold" pitchFamily="34" charset="-122"/>
                <a:cs typeface="Hanken Grotesk Bold" pitchFamily="34" charset="-120"/>
              </a:rPr>
              <a:t>history · 15 giây</a:t>
            </a:r>
            <a:endParaRPr lang="en-US" sz="1900" dirty="0"/>
          </a:p>
        </p:txBody>
      </p:sp>
      <p:sp>
        <p:nvSpPr>
          <p:cNvPr id="25" name="Text 23"/>
          <p:cNvSpPr/>
          <p:nvPr/>
        </p:nvSpPr>
        <p:spPr>
          <a:xfrm>
            <a:off x="6141388" y="5335508"/>
            <a:ext cx="2045839"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000000"/>
                </a:solidFill>
                <a:latin typeface="Hanken Grotesk" pitchFamily="34" charset="0"/>
                <a:ea typeface="Hanken Grotesk" pitchFamily="34" charset="-122"/>
                <a:cs typeface="Hanken Grotesk" pitchFamily="34" charset="-120"/>
              </a:rPr>
              <a:t>Lưu chuỗi khi có ngón tay hợp lệ</a:t>
            </a:r>
            <a:endParaRPr lang="en-US" sz="1600" dirty="0"/>
          </a:p>
        </p:txBody>
      </p:sp>
      <p:sp>
        <p:nvSpPr>
          <p:cNvPr id="26" name="Text 24"/>
          <p:cNvSpPr/>
          <p:nvPr/>
        </p:nvSpPr>
        <p:spPr>
          <a:xfrm>
            <a:off x="8168376" y="4027349"/>
            <a:ext cx="1158151" cy="319980"/>
          </a:xfrm>
          <a:prstGeom prst="rect">
            <a:avLst/>
          </a:prstGeom>
          <a:noFill/>
        </p:spPr>
        <p:txBody>
          <a:bodyPr wrap="none" lIns="0" tIns="0" rIns="0" bIns="0" rtlCol="0" anchor="t"/>
          <a:lstStyle/>
          <a:p>
            <a:pPr marL="0" indent="0" algn="ctr">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a:t>
            </a:r>
            <a:endParaRPr lang="en-US" sz="1800" dirty="0"/>
          </a:p>
        </p:txBody>
      </p:sp>
      <p:sp>
        <p:nvSpPr>
          <p:cNvPr id="27" name="Shape 25"/>
          <p:cNvSpPr/>
          <p:nvPr/>
        </p:nvSpPr>
        <p:spPr>
          <a:xfrm>
            <a:off x="9021834" y="2459831"/>
            <a:ext cx="355591" cy="355600"/>
          </a:xfrm>
          <a:prstGeom prst="ellipse">
            <a:avLst/>
          </a:prstGeom>
          <a:solidFill>
            <a:srgbClr val="16171D"/>
          </a:solidFill>
          <a:ln w="6350">
            <a:solidFill>
              <a:srgbClr val="D5D3CA"/>
            </a:solidFill>
            <a:prstDash val="solid"/>
          </a:ln>
        </p:spPr>
      </p:sp>
      <p:sp>
        <p:nvSpPr>
          <p:cNvPr id="28" name="Text 26"/>
          <p:cNvSpPr/>
          <p:nvPr/>
        </p:nvSpPr>
        <p:spPr>
          <a:xfrm>
            <a:off x="9149823" y="2566194"/>
            <a:ext cx="1261535" cy="177800"/>
          </a:xfrm>
          <a:prstGeom prst="rect">
            <a:avLst/>
          </a:prstGeom>
          <a:noFill/>
        </p:spPr>
        <p:txBody>
          <a:bodyPr wrap="none" lIns="0" tIns="0" rIns="0" bIns="0" rtlCol="0" anchor="t"/>
          <a:lstStyle/>
          <a:p>
            <a:pPr marL="0" indent="0" algn="l">
              <a:lnSpc>
                <a:spcPct val="83000"/>
              </a:lnSpc>
              <a:buNone/>
            </a:pPr>
            <a:r>
              <a:rPr lang="en-US" sz="1400" b="1" dirty="0">
                <a:solidFill>
                  <a:srgbClr val="FFFFFF"/>
                </a:solidFill>
                <a:latin typeface="Hanken Grotesk Bold" pitchFamily="34" charset="0"/>
                <a:ea typeface="Hanken Grotesk Bold" pitchFamily="34" charset="-122"/>
                <a:cs typeface="Hanken Grotesk Bold" pitchFamily="34" charset="-120"/>
              </a:rPr>
              <a:t>4</a:t>
            </a:r>
            <a:endParaRPr lang="en-US" sz="1400" dirty="0"/>
          </a:p>
        </p:txBody>
      </p:sp>
      <p:sp>
        <p:nvSpPr>
          <p:cNvPr id="29" name="Text 27"/>
          <p:cNvSpPr/>
          <p:nvPr/>
        </p:nvSpPr>
        <p:spPr>
          <a:xfrm>
            <a:off x="9021834" y="2970524"/>
            <a:ext cx="2605320" cy="321270"/>
          </a:xfrm>
          <a:prstGeom prst="rect">
            <a:avLst/>
          </a:prstGeom>
          <a:noFill/>
        </p:spPr>
        <p:txBody>
          <a:bodyPr wrap="none" lIns="0" tIns="0" rIns="0" bIns="0" rtlCol="0" anchor="t"/>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Ứng dụng di động</a:t>
            </a:r>
            <a:endParaRPr lang="en-US" sz="2200" dirty="0"/>
          </a:p>
        </p:txBody>
      </p:sp>
      <p:sp>
        <p:nvSpPr>
          <p:cNvPr id="30" name="Text 28"/>
          <p:cNvSpPr/>
          <p:nvPr/>
        </p:nvSpPr>
        <p:spPr>
          <a:xfrm>
            <a:off x="9021834" y="3420249"/>
            <a:ext cx="3169861"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React Native + Expo</a:t>
            </a:r>
            <a:endParaRPr lang="en-US" sz="1900" dirty="0"/>
          </a:p>
        </p:txBody>
      </p:sp>
      <p:sp>
        <p:nvSpPr>
          <p:cNvPr id="31" name="Text 29"/>
          <p:cNvSpPr/>
          <p:nvPr/>
        </p:nvSpPr>
        <p:spPr>
          <a:xfrm>
            <a:off x="9021834" y="3840281"/>
            <a:ext cx="2503028"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Giao diện theo dõi trực quan</a:t>
            </a:r>
            <a:endParaRPr lang="en-US" sz="1600" dirty="0"/>
          </a:p>
        </p:txBody>
      </p:sp>
      <p:sp>
        <p:nvSpPr>
          <p:cNvPr id="32" name="Text 30"/>
          <p:cNvSpPr/>
          <p:nvPr/>
        </p:nvSpPr>
        <p:spPr>
          <a:xfrm>
            <a:off x="9021834" y="4638159"/>
            <a:ext cx="3112613"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Cảnh báo SOS</a:t>
            </a:r>
            <a:endParaRPr lang="en-US" sz="1900" dirty="0"/>
          </a:p>
        </p:txBody>
      </p:sp>
      <p:sp>
        <p:nvSpPr>
          <p:cNvPr id="33" name="Text 31"/>
          <p:cNvSpPr/>
          <p:nvPr/>
        </p:nvSpPr>
        <p:spPr>
          <a:xfrm>
            <a:off x="9021834" y="5058092"/>
            <a:ext cx="2560177" cy="85338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Rung, lấy GPS, soạn tin nhắn, mở trình quay số khẩn cấp</a:t>
            </a:r>
            <a:endParaRPr lang="en-US" sz="1600" dirty="0"/>
          </a:p>
        </p:txBody>
      </p:sp>
      <p:sp>
        <p:nvSpPr>
          <p:cNvPr id="34" name="Text 32"/>
          <p:cNvSpPr/>
          <p:nvPr/>
        </p:nvSpPr>
        <p:spPr>
          <a:xfrm>
            <a:off x="609585" y="6427887"/>
            <a:ext cx="11582110" cy="206375"/>
          </a:xfrm>
          <a:prstGeom prst="rect">
            <a:avLst/>
          </a:prstGeom>
          <a:noFill/>
        </p:spPr>
        <p:txBody>
          <a:bodyPr wrap="none" lIns="0" tIns="0" rIns="0" bIns="0" rtlCol="0" anchor="t"/>
          <a:lstStyle/>
          <a:p>
            <a:pPr marL="0" indent="0" algn="l">
              <a:lnSpc>
                <a:spcPct val="104000"/>
              </a:lnSpc>
              <a:buNone/>
            </a:pPr>
            <a:r>
              <a:rPr lang="en-US" sz="1300" kern="100" spc="13" dirty="0">
                <a:solidFill>
                  <a:srgbClr val="16171D"/>
                </a:solidFill>
                <a:latin typeface="Noto Sans" panose="020B0502040504020204" pitchFamily="34" charset="0"/>
                <a:ea typeface="Noto Sans" panose="020B0502040504020204" pitchFamily="34" charset="-122"/>
                <a:cs typeface="Noto Sans" panose="020B0502040504020204" pitchFamily="34" charset="-120"/>
              </a:rPr>
              <a:t>Độ trễ truyền phần cứng đến đám mây: &lt; 1,0 giây</a:t>
            </a:r>
            <a:endParaRPr lang="en-US" sz="1300" dirty="0"/>
          </a:p>
        </p:txBody>
      </p:sp>
      <p:pic>
        <p:nvPicPr>
          <p:cNvPr id="35" name="Image 0" descr="preencoded.png"/>
          <p:cNvPicPr>
            <a:picLocks noChangeAspect="1"/>
          </p:cNvPicPr>
          <p:nvPr/>
        </p:nvPicPr>
        <p:blipFill>
          <a:blip r:embed="rId1"/>
          <a:stretch>
            <a:fillRect/>
          </a:stretch>
        </p:blipFill>
        <p:spPr>
          <a:xfrm>
            <a:off x="11077000" y="6559252"/>
            <a:ext cx="1071833" cy="255984"/>
          </a:xfrm>
          <a:prstGeom prst="rect">
            <a:avLst/>
          </a:prstGeom>
          <a:solidFill>
            <a:schemeClr val="bg1"/>
          </a:solid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189" y="451258"/>
            <a:ext cx="6394290" cy="1737122"/>
          </a:xfrm>
          <a:prstGeom prst="rect">
            <a:avLst/>
          </a:prstGeom>
          <a:noFill/>
        </p:spPr>
        <p:txBody>
          <a:bodyPr wrap="square" lIns="0" tIns="0" rIns="0" bIns="0" rtlCol="0" anchor="t">
            <a:normAutofit/>
          </a:bodyPr>
          <a:lstStyle/>
          <a:p>
            <a:pPr marL="0" indent="0" algn="l">
              <a:lnSpc>
                <a:spcPct val="79000"/>
              </a:lnSpc>
              <a:buNone/>
            </a:pPr>
            <a:r>
              <a:rPr lang="en-US" sz="4800" kern="100" spc="24" dirty="0">
                <a:solidFill>
                  <a:srgbClr val="16171D"/>
                </a:solidFill>
                <a:latin typeface="Big Shoulders ExtraBold" pitchFamily="34" charset="0"/>
                <a:ea typeface="Big Shoulders ExtraBold" pitchFamily="34" charset="-122"/>
                <a:cs typeface="Big Shoulders ExtraBold" pitchFamily="34" charset="-120"/>
              </a:rPr>
              <a:t>ĐỀ TÀI 1: ĐO KHỚP MÁY CHUYÊN DỤNG, TRUYỀN DƯỚI 1 GIÂY</a:t>
            </a:r>
            <a:endParaRPr lang="en-US" sz="4800" dirty="0"/>
          </a:p>
        </p:txBody>
      </p:sp>
      <p:sp>
        <p:nvSpPr>
          <p:cNvPr id="3" name="Text 1"/>
          <p:cNvSpPr/>
          <p:nvPr/>
        </p:nvSpPr>
        <p:spPr>
          <a:xfrm>
            <a:off x="457189" y="2329616"/>
            <a:ext cx="7410265" cy="231080"/>
          </a:xfrm>
          <a:prstGeom prst="rect">
            <a:avLst/>
          </a:prstGeom>
          <a:noFill/>
        </p:spPr>
        <p:txBody>
          <a:bodyPr wrap="none" lIns="0" tIns="0" rIns="0" bIns="0" rtlCol="0" anchor="t"/>
          <a:lstStyle/>
          <a:p>
            <a:pPr marL="0" indent="0" algn="l">
              <a:lnSpc>
                <a:spcPct val="108000"/>
              </a:lnSpc>
              <a:buNone/>
            </a:pPr>
            <a:r>
              <a:rPr lang="en-US" sz="1400" kern="100" spc="7" dirty="0">
                <a:solidFill>
                  <a:srgbClr val="4E5058"/>
                </a:solidFill>
                <a:latin typeface="Hanken Grotesk" pitchFamily="34" charset="0"/>
                <a:ea typeface="Hanken Grotesk" pitchFamily="34" charset="-122"/>
                <a:cs typeface="Hanken Grotesk" pitchFamily="34" charset="-120"/>
              </a:rPr>
              <a:t>Đo song song với Oximeter; hai thiết bị gần tương đương.</a:t>
            </a:r>
            <a:endParaRPr lang="en-US" sz="1400" dirty="0"/>
          </a:p>
        </p:txBody>
      </p:sp>
      <p:sp>
        <p:nvSpPr>
          <p:cNvPr id="4" name="Text 2"/>
          <p:cNvSpPr/>
          <p:nvPr/>
        </p:nvSpPr>
        <p:spPr>
          <a:xfrm>
            <a:off x="457189" y="3174483"/>
            <a:ext cx="3300429" cy="742652"/>
          </a:xfrm>
          <a:prstGeom prst="rect">
            <a:avLst/>
          </a:prstGeom>
          <a:noFill/>
        </p:spPr>
        <p:txBody>
          <a:bodyPr wrap="none" lIns="0" tIns="0" rIns="0" bIns="0" rtlCol="0" anchor="t"/>
          <a:lstStyle/>
          <a:p>
            <a:pPr marL="0" indent="0" algn="l">
              <a:lnSpc>
                <a:spcPct val="72000"/>
              </a:lnSpc>
              <a:buNone/>
            </a:pPr>
            <a:r>
              <a:rPr lang="en-US" sz="6800" dirty="0">
                <a:solidFill>
                  <a:srgbClr val="16171D"/>
                </a:solidFill>
                <a:latin typeface="Big Shoulders ExtraBold" pitchFamily="34" charset="0"/>
                <a:ea typeface="Big Shoulders ExtraBold" pitchFamily="34" charset="-122"/>
                <a:cs typeface="Big Shoulders ExtraBold" pitchFamily="34" charset="-120"/>
              </a:rPr>
              <a:t>98–99%</a:t>
            </a:r>
            <a:endParaRPr lang="en-US" sz="6800" dirty="0"/>
          </a:p>
        </p:txBody>
      </p:sp>
      <p:sp>
        <p:nvSpPr>
          <p:cNvPr id="5" name="Text 3"/>
          <p:cNvSpPr/>
          <p:nvPr/>
        </p:nvSpPr>
        <p:spPr>
          <a:xfrm>
            <a:off x="457189" y="3859074"/>
            <a:ext cx="3778155" cy="319980"/>
          </a:xfrm>
          <a:prstGeom prst="rect">
            <a:avLst/>
          </a:prstGeom>
          <a:noFill/>
        </p:spPr>
        <p:txBody>
          <a:bodyPr wrap="none" lIns="0" tIns="0" rIns="0" bIns="0" rtlCol="0" anchor="t"/>
          <a:lstStyle/>
          <a:p>
            <a:pPr marL="0" indent="0" algn="l">
              <a:lnSpc>
                <a:spcPct val="117000"/>
              </a:lnSpc>
              <a:buNone/>
            </a:pPr>
            <a:r>
              <a:rPr lang="en-US" sz="1800" b="1" dirty="0">
                <a:solidFill>
                  <a:srgbClr val="16171D"/>
                </a:solidFill>
                <a:latin typeface="Hanken Grotesk Bold" pitchFamily="34" charset="0"/>
                <a:ea typeface="Hanken Grotesk Bold" pitchFamily="34" charset="-122"/>
                <a:cs typeface="Hanken Grotesk Bold" pitchFamily="34" charset="-120"/>
              </a:rPr>
              <a:t>SpO₂</a:t>
            </a:r>
            <a:endParaRPr lang="en-US" sz="1800" dirty="0"/>
          </a:p>
        </p:txBody>
      </p:sp>
      <p:sp>
        <p:nvSpPr>
          <p:cNvPr id="6" name="Text 4"/>
          <p:cNvSpPr/>
          <p:nvPr/>
        </p:nvSpPr>
        <p:spPr>
          <a:xfrm>
            <a:off x="3860703" y="3174483"/>
            <a:ext cx="2990775" cy="742652"/>
          </a:xfrm>
          <a:prstGeom prst="rect">
            <a:avLst/>
          </a:prstGeom>
          <a:noFill/>
        </p:spPr>
        <p:txBody>
          <a:bodyPr wrap="none" lIns="0" tIns="0" rIns="0" bIns="0" rtlCol="0" anchor="t"/>
          <a:lstStyle/>
          <a:p>
            <a:pPr marL="0" indent="0" algn="l">
              <a:lnSpc>
                <a:spcPct val="72000"/>
              </a:lnSpc>
              <a:buNone/>
            </a:pPr>
            <a:r>
              <a:rPr lang="en-US" sz="6800" dirty="0">
                <a:solidFill>
                  <a:srgbClr val="16171D"/>
                </a:solidFill>
                <a:latin typeface="Big Shoulders ExtraBold" pitchFamily="34" charset="0"/>
                <a:ea typeface="Big Shoulders ExtraBold" pitchFamily="34" charset="-122"/>
                <a:cs typeface="Big Shoulders ExtraBold" pitchFamily="34" charset="-120"/>
              </a:rPr>
              <a:t>88–90</a:t>
            </a:r>
            <a:endParaRPr lang="en-US" sz="6800" dirty="0"/>
          </a:p>
        </p:txBody>
      </p:sp>
      <p:sp>
        <p:nvSpPr>
          <p:cNvPr id="7" name="Text 5"/>
          <p:cNvSpPr/>
          <p:nvPr/>
        </p:nvSpPr>
        <p:spPr>
          <a:xfrm>
            <a:off x="3860703" y="3859074"/>
            <a:ext cx="3600360" cy="319980"/>
          </a:xfrm>
          <a:prstGeom prst="rect">
            <a:avLst/>
          </a:prstGeom>
          <a:noFill/>
        </p:spPr>
        <p:txBody>
          <a:bodyPr wrap="none" lIns="0" tIns="0" rIns="0" bIns="0" rtlCol="0" anchor="t"/>
          <a:lstStyle/>
          <a:p>
            <a:pPr marL="0" indent="0" algn="l">
              <a:lnSpc>
                <a:spcPct val="117000"/>
              </a:lnSpc>
              <a:buNone/>
            </a:pPr>
            <a:r>
              <a:rPr lang="en-US" sz="1800" b="1" dirty="0">
                <a:solidFill>
                  <a:srgbClr val="16171D"/>
                </a:solidFill>
                <a:latin typeface="Hanken Grotesk Bold" pitchFamily="34" charset="0"/>
                <a:ea typeface="Hanken Grotesk Bold" pitchFamily="34" charset="-122"/>
                <a:cs typeface="Hanken Grotesk Bold" pitchFamily="34" charset="-120"/>
              </a:rPr>
              <a:t>Nhịp tim xấp xỉ (BPM)</a:t>
            </a:r>
            <a:endParaRPr lang="en-US" sz="1800" dirty="0"/>
          </a:p>
        </p:txBody>
      </p:sp>
      <p:sp>
        <p:nvSpPr>
          <p:cNvPr id="8" name="Text 6"/>
          <p:cNvSpPr/>
          <p:nvPr/>
        </p:nvSpPr>
        <p:spPr>
          <a:xfrm>
            <a:off x="457189" y="4512330"/>
            <a:ext cx="7410265" cy="319980"/>
          </a:xfrm>
          <a:prstGeom prst="rect">
            <a:avLst/>
          </a:prstGeom>
          <a:noFill/>
        </p:spPr>
        <p:txBody>
          <a:bodyPr wrap="none" lIns="0" tIns="0" rIns="0" bIns="0" rtlCol="0" anchor="t"/>
          <a:lstStyle/>
          <a:p>
            <a:pPr marL="0" indent="0" algn="l">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Độ trễ từ phần cứng lên Firebase dưới 1 giây.</a:t>
            </a:r>
            <a:endParaRPr lang="en-US" sz="1800" dirty="0"/>
          </a:p>
        </p:txBody>
      </p:sp>
      <p:sp>
        <p:nvSpPr>
          <p:cNvPr id="9" name="Shape 7"/>
          <p:cNvSpPr/>
          <p:nvPr/>
        </p:nvSpPr>
        <p:spPr>
          <a:xfrm>
            <a:off x="457189" y="5036741"/>
            <a:ext cx="3149521" cy="1341041"/>
          </a:xfrm>
          <a:prstGeom prst="rect">
            <a:avLst/>
          </a:prstGeom>
          <a:solidFill>
            <a:srgbClr val="EFEDE4"/>
          </a:solidFill>
        </p:spPr>
      </p:sp>
      <p:sp>
        <p:nvSpPr>
          <p:cNvPr id="10" name="Text 8"/>
          <p:cNvSpPr/>
          <p:nvPr/>
        </p:nvSpPr>
        <p:spPr>
          <a:xfrm>
            <a:off x="584185" y="5139055"/>
            <a:ext cx="2838379" cy="1137841"/>
          </a:xfrm>
          <a:prstGeom prst="rect">
            <a:avLst/>
          </a:prstGeom>
          <a:noFill/>
        </p:spPr>
        <p:txBody>
          <a:bodyPr wrap="square" lIns="0" tIns="0" rIns="0" bIns="0" rtlCol="0" anchor="t">
            <a:normAutofit/>
          </a:bodyPr>
          <a:lstStyle/>
          <a:p>
            <a:pPr marL="0" indent="0" algn="l">
              <a:lnSpc>
                <a:spcPct val="117000"/>
              </a:lnSpc>
              <a:buNone/>
            </a:pPr>
            <a:r>
              <a:rPr lang="en-US" sz="1600" b="1" dirty="0">
                <a:solidFill>
                  <a:srgbClr val="16171D"/>
                </a:solidFill>
                <a:latin typeface="Hanken Grotesk Bold" pitchFamily="34" charset="0"/>
                <a:ea typeface="Hanken Grotesk Bold" pitchFamily="34" charset="-122"/>
                <a:cs typeface="Hanken Grotesk Bold" pitchFamily="34" charset="-120"/>
              </a:rPr>
              <a:t>Hạn chế:</a:t>
            </a:r>
            <a:r>
              <a:rPr lang="en-US" sz="1600" dirty="0">
                <a:solidFill>
                  <a:srgbClr val="16171D"/>
                </a:solidFill>
                <a:latin typeface="Hanken Grotesk" pitchFamily="34" charset="0"/>
                <a:ea typeface="Hanken Grotesk" pitchFamily="34" charset="-122"/>
                <a:cs typeface="Hanken Grotesk" pitchFamily="34" charset="-120"/>
              </a:rPr>
              <a:t> Nhạy với chuyển động và ánh sáng; phụ thuộc Wi‑Fi.</a:t>
            </a:r>
            <a:endParaRPr lang="en-US" sz="1600" dirty="0"/>
          </a:p>
        </p:txBody>
      </p:sp>
      <p:sp>
        <p:nvSpPr>
          <p:cNvPr id="11" name="Shape 9"/>
          <p:cNvSpPr/>
          <p:nvPr/>
        </p:nvSpPr>
        <p:spPr>
          <a:xfrm>
            <a:off x="3759106" y="5036741"/>
            <a:ext cx="3149521" cy="1341041"/>
          </a:xfrm>
          <a:prstGeom prst="rect">
            <a:avLst/>
          </a:prstGeom>
          <a:solidFill>
            <a:srgbClr val="EFEDE4"/>
          </a:solidFill>
        </p:spPr>
      </p:sp>
      <p:sp>
        <p:nvSpPr>
          <p:cNvPr id="12" name="Text 10"/>
          <p:cNvSpPr/>
          <p:nvPr/>
        </p:nvSpPr>
        <p:spPr>
          <a:xfrm>
            <a:off x="3886103" y="5139055"/>
            <a:ext cx="2838379" cy="853380"/>
          </a:xfrm>
          <a:prstGeom prst="rect">
            <a:avLst/>
          </a:prstGeom>
          <a:noFill/>
        </p:spPr>
        <p:txBody>
          <a:bodyPr wrap="square" lIns="0" tIns="0" rIns="0" bIns="0" rtlCol="0" anchor="t">
            <a:normAutofit/>
          </a:bodyPr>
          <a:lstStyle/>
          <a:p>
            <a:pPr marL="0" indent="0" algn="l">
              <a:lnSpc>
                <a:spcPct val="117000"/>
              </a:lnSpc>
              <a:buNone/>
            </a:pPr>
            <a:r>
              <a:rPr lang="en-US" sz="1600" b="1" dirty="0">
                <a:solidFill>
                  <a:srgbClr val="16171D"/>
                </a:solidFill>
                <a:latin typeface="Hanken Grotesk Bold" pitchFamily="34" charset="0"/>
                <a:ea typeface="Hanken Grotesk Bold" pitchFamily="34" charset="-122"/>
                <a:cs typeface="Hanken Grotesk Bold" pitchFamily="34" charset="-120"/>
              </a:rPr>
              <a:t>Hướng tiếp:</a:t>
            </a:r>
            <a:r>
              <a:rPr lang="en-US" sz="1600" dirty="0">
                <a:solidFill>
                  <a:srgbClr val="16171D"/>
                </a:solidFill>
                <a:latin typeface="Hanken Grotesk" pitchFamily="34" charset="0"/>
                <a:ea typeface="Hanken Grotesk" pitchFamily="34" charset="-122"/>
                <a:cs typeface="Hanken Grotesk" pitchFamily="34" charset="-120"/>
              </a:rPr>
              <a:t> 4G/NB‑IoT, PCB đeo tay, thêm cảm biến nhiệt độ và gia tốc, AI/TinyML.</a:t>
            </a:r>
            <a:endParaRPr lang="en-US" sz="1600" dirty="0"/>
          </a:p>
        </p:txBody>
      </p:sp>
      <p:pic>
        <p:nvPicPr>
          <p:cNvPr id="13" name="Image 0" descr="preencoded.png"/>
          <p:cNvPicPr>
            <a:picLocks noChangeAspect="1"/>
          </p:cNvPicPr>
          <p:nvPr/>
        </p:nvPicPr>
        <p:blipFill>
          <a:blip r:embed="rId1"/>
          <a:stretch>
            <a:fillRect/>
          </a:stretch>
        </p:blipFill>
        <p:spPr>
          <a:xfrm>
            <a:off x="7315017" y="0"/>
            <a:ext cx="4876678" cy="6858099"/>
          </a:xfrm>
          <a:prstGeom prst="rect">
            <a:avLst/>
          </a:prstGeom>
        </p:spPr>
      </p:pic>
      <p:sp>
        <p:nvSpPr>
          <p:cNvPr id="14" name="Shape 11"/>
          <p:cNvSpPr/>
          <p:nvPr/>
        </p:nvSpPr>
        <p:spPr>
          <a:xfrm>
            <a:off x="3676558" y="2758777"/>
            <a:ext cx="12700" cy="1545134"/>
          </a:xfrm>
          <a:prstGeom prst="rect">
            <a:avLst/>
          </a:prstGeom>
          <a:solidFill>
            <a:srgbClr val="16171D"/>
          </a:solid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4876678" cy="6858000"/>
          </a:xfrm>
          <a:prstGeom prst="rect">
            <a:avLst/>
          </a:prstGeom>
          <a:solidFill>
            <a:srgbClr val="FF8424"/>
          </a:solidFill>
        </p:spPr>
      </p:sp>
      <p:sp>
        <p:nvSpPr>
          <p:cNvPr id="3" name="Text 1"/>
          <p:cNvSpPr/>
          <p:nvPr/>
        </p:nvSpPr>
        <p:spPr>
          <a:xfrm>
            <a:off x="609585" y="842335"/>
            <a:ext cx="3594010" cy="794445"/>
          </a:xfrm>
          <a:prstGeom prst="rect">
            <a:avLst/>
          </a:prstGeom>
          <a:noFill/>
        </p:spPr>
        <p:txBody>
          <a:bodyPr wrap="none" lIns="0" tIns="0" rIns="0" bIns="0" rtlCol="0" anchor="t"/>
          <a:lstStyle/>
          <a:p>
            <a:pPr marL="0" indent="0" algn="l">
              <a:lnSpc>
                <a:spcPct val="77000"/>
              </a:lnSpc>
              <a:buNone/>
            </a:pPr>
            <a:r>
              <a:rPr lang="en-US" sz="6800" dirty="0">
                <a:solidFill>
                  <a:srgbClr val="000000"/>
                </a:solidFill>
                <a:latin typeface="Big Shoulders ExtraBold" pitchFamily="34" charset="0"/>
                <a:ea typeface="Big Shoulders ExtraBold" pitchFamily="34" charset="-122"/>
                <a:cs typeface="Big Shoulders ExtraBold" pitchFamily="34" charset="-120"/>
              </a:rPr>
              <a:t>TINYML</a:t>
            </a:r>
            <a:endParaRPr lang="en-US" sz="6800" dirty="0"/>
          </a:p>
        </p:txBody>
      </p:sp>
      <p:sp>
        <p:nvSpPr>
          <p:cNvPr id="4" name="Text 2"/>
          <p:cNvSpPr/>
          <p:nvPr/>
        </p:nvSpPr>
        <p:spPr>
          <a:xfrm>
            <a:off x="609585" y="1588803"/>
            <a:ext cx="3896124" cy="321270"/>
          </a:xfrm>
          <a:prstGeom prst="rect">
            <a:avLst/>
          </a:prstGeom>
          <a:noFill/>
        </p:spPr>
        <p:txBody>
          <a:bodyPr wrap="none" lIns="0" tIns="0" rIns="0" bIns="0" rtlCol="0" anchor="t"/>
          <a:lstStyle/>
          <a:p>
            <a:pPr marL="0" indent="0" algn="l">
              <a:lnSpc>
                <a:spcPct val="96000"/>
              </a:lnSpc>
              <a:buNone/>
            </a:pPr>
            <a:r>
              <a:rPr lang="en-US" sz="2200" b="1" kern="100" spc="-11" dirty="0">
                <a:solidFill>
                  <a:srgbClr val="000000"/>
                </a:solidFill>
                <a:latin typeface="Hanken Grotesk Bold" pitchFamily="34" charset="0"/>
                <a:ea typeface="Hanken Grotesk Bold" pitchFamily="34" charset="-122"/>
                <a:cs typeface="Hanken Grotesk Bold" pitchFamily="34" charset="-120"/>
              </a:rPr>
              <a:t>Học sâu trên thiết bị biên</a:t>
            </a:r>
            <a:endParaRPr lang="en-US" sz="2200" dirty="0"/>
          </a:p>
        </p:txBody>
      </p:sp>
      <p:sp>
        <p:nvSpPr>
          <p:cNvPr id="5" name="Text 3"/>
          <p:cNvSpPr/>
          <p:nvPr/>
        </p:nvSpPr>
        <p:spPr>
          <a:xfrm>
            <a:off x="609585" y="5499417"/>
            <a:ext cx="3759106" cy="85338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000000"/>
                </a:solidFill>
                <a:latin typeface="Hanken Grotesk" pitchFamily="34" charset="0"/>
                <a:ea typeface="Hanken Grotesk" pitchFamily="34" charset="-122"/>
                <a:cs typeface="Hanken Grotesk" pitchFamily="34" charset="-120"/>
              </a:rPr>
              <a:t>Học sâu tự trích xuất đặc trưng từ PPG thô, không cần phát hiện đỉnh hay đặc trưng thủ công.</a:t>
            </a:r>
            <a:endParaRPr lang="en-US" sz="1600" dirty="0"/>
          </a:p>
        </p:txBody>
      </p:sp>
      <p:sp>
        <p:nvSpPr>
          <p:cNvPr id="6" name="Text 4"/>
          <p:cNvSpPr/>
          <p:nvPr/>
        </p:nvSpPr>
        <p:spPr>
          <a:xfrm>
            <a:off x="5384665" y="601395"/>
            <a:ext cx="6083148" cy="1302841"/>
          </a:xfrm>
          <a:prstGeom prst="rect">
            <a:avLst/>
          </a:prstGeom>
          <a:noFill/>
        </p:spPr>
        <p:txBody>
          <a:bodyPr wrap="square" lIns="0" tIns="0" rIns="0" bIns="0" rtlCol="0" anchor="t">
            <a:normAutofit/>
          </a:bodyPr>
          <a:lstStyle/>
          <a:p>
            <a:pPr marL="0" indent="0" algn="l">
              <a:lnSpc>
                <a:spcPct val="79000"/>
              </a:lnSpc>
              <a:buNone/>
            </a:pPr>
            <a:r>
              <a:rPr lang="en-US" sz="3600" kern="100" spc="18" dirty="0">
                <a:solidFill>
                  <a:srgbClr val="16171D"/>
                </a:solidFill>
                <a:latin typeface="Big Shoulders ExtraBold" pitchFamily="34" charset="0"/>
                <a:ea typeface="Big Shoulders ExtraBold" pitchFamily="34" charset="-122"/>
                <a:cs typeface="Big Shoulders ExtraBold" pitchFamily="34" charset="-120"/>
              </a:rPr>
              <a:t>ĐỀ TÀI 2: ĐƯA AI CHÍNH XÁC XUỐNG VI ĐIỀU KHIỂN CÓ TÀI NGUYÊN HẠN CHẾ</a:t>
            </a:r>
            <a:endParaRPr lang="en-US" sz="3600" dirty="0"/>
          </a:p>
        </p:txBody>
      </p:sp>
      <p:sp>
        <p:nvSpPr>
          <p:cNvPr id="7" name="Text 5"/>
          <p:cNvSpPr/>
          <p:nvPr/>
        </p:nvSpPr>
        <p:spPr>
          <a:xfrm>
            <a:off x="5384665" y="2070100"/>
            <a:ext cx="6197445" cy="1599902"/>
          </a:xfrm>
          <a:prstGeom prst="rect">
            <a:avLst/>
          </a:prstGeom>
          <a:noFill/>
        </p:spPr>
        <p:txBody>
          <a:bodyPr wrap="square" lIns="0" tIns="0" rIns="0" bIns="0" rtlCol="0" anchor="t">
            <a:normAutofit/>
          </a:bodyPr>
          <a:lstStyle/>
          <a:p>
            <a:pPr marL="365760" indent="-365760" algn="l">
              <a:lnSpc>
                <a:spcPct val="117000"/>
              </a:lnSpc>
              <a:buSzPct val="100000"/>
              <a:buChar char="•"/>
            </a:pPr>
            <a:r>
              <a:rPr lang="en-US" sz="1800" b="1" dirty="0">
                <a:solidFill>
                  <a:srgbClr val="16171D"/>
                </a:solidFill>
                <a:latin typeface="Hanken Grotesk Bold" pitchFamily="34" charset="0"/>
                <a:ea typeface="Hanken Grotesk Bold" pitchFamily="34" charset="-122"/>
                <a:cs typeface="Hanken Grotesk Bold" pitchFamily="34" charset="-120"/>
              </a:rPr>
              <a:t>Thách thức:</a:t>
            </a:r>
            <a:r>
              <a:rPr lang="en-US" sz="1800" dirty="0">
                <a:solidFill>
                  <a:srgbClr val="16171D"/>
                </a:solidFill>
                <a:latin typeface="Hanken Grotesk" pitchFamily="34" charset="0"/>
                <a:ea typeface="Hanken Grotesk" pitchFamily="34" charset="-122"/>
                <a:cs typeface="Hanken Grotesk" pitchFamily="34" charset="-120"/>
              </a:rPr>
              <a:t> bộ nhớ, tính toán và năng lượng của thiết bị biên.</a:t>
            </a:r>
            <a:endParaRPr lang="en-US" sz="1800" dirty="0"/>
          </a:p>
          <a:p>
            <a:pPr marL="365760" indent="-365760" algn="l">
              <a:lnSpc>
                <a:spcPct val="117000"/>
              </a:lnSpc>
              <a:buSzPct val="100000"/>
              <a:buChar char="•"/>
            </a:pPr>
            <a:r>
              <a:rPr lang="en-US" sz="1800" b="1" dirty="0">
                <a:solidFill>
                  <a:srgbClr val="16171D"/>
                </a:solidFill>
                <a:latin typeface="Hanken Grotesk Bold" pitchFamily="34" charset="0"/>
                <a:ea typeface="Hanken Grotesk Bold" pitchFamily="34" charset="-122"/>
                <a:cs typeface="Hanken Grotesk Bold" pitchFamily="34" charset="-120"/>
              </a:rPr>
              <a:t>Hướng giải:</a:t>
            </a:r>
            <a:r>
              <a:rPr lang="en-US" sz="1800" dirty="0">
                <a:solidFill>
                  <a:srgbClr val="16171D"/>
                </a:solidFill>
                <a:latin typeface="Hanken Grotesk" pitchFamily="34" charset="0"/>
                <a:ea typeface="Hanken Grotesk" pitchFamily="34" charset="-122"/>
                <a:cs typeface="Hanken Grotesk" pitchFamily="34" charset="-120"/>
              </a:rPr>
              <a:t> giảm mẫu sớm bằng CNN, LSTM mô hình hóa chuỗi, lượng tử hóa Dynamic Range, chuyển sang TensorFlow Lite.</a:t>
            </a:r>
            <a:endParaRPr lang="en-US" sz="1800" dirty="0"/>
          </a:p>
        </p:txBody>
      </p:sp>
      <p:pic>
        <p:nvPicPr>
          <p:cNvPr id="8" name="Image 0" descr="preencoded.png"/>
          <p:cNvPicPr>
            <a:picLocks noChangeAspect="1"/>
          </p:cNvPicPr>
          <p:nvPr/>
        </p:nvPicPr>
        <p:blipFill>
          <a:blip r:embed="rId1"/>
          <a:stretch>
            <a:fillRect/>
          </a:stretch>
        </p:blipFill>
        <p:spPr>
          <a:xfrm>
            <a:off x="11077000" y="6559252"/>
            <a:ext cx="1071833" cy="255984"/>
          </a:xfrm>
          <a:prstGeom prst="rect">
            <a:avLst/>
          </a:prstGeom>
          <a:solidFill>
            <a:schemeClr val="bg1"/>
          </a:solid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578258"/>
            <a:ext cx="10915377" cy="1158081"/>
          </a:xfrm>
          <a:prstGeom prst="rect">
            <a:avLst/>
          </a:prstGeom>
          <a:noFill/>
        </p:spPr>
        <p:txBody>
          <a:bodyPr wrap="square" lIns="0" tIns="0" rIns="0" bIns="0" rtlCol="0" anchor="t">
            <a:normAutofit/>
          </a:bodyPr>
          <a:lstStyle/>
          <a:p>
            <a:pPr marL="0" indent="0" algn="l">
              <a:lnSpc>
                <a:spcPct val="79000"/>
              </a:lnSpc>
              <a:buNone/>
            </a:pPr>
            <a:r>
              <a:rPr lang="en-US" sz="4800" kern="100" spc="24" dirty="0">
                <a:solidFill>
                  <a:srgbClr val="16171D"/>
                </a:solidFill>
                <a:latin typeface="Big Shoulders ExtraBold" pitchFamily="34" charset="0"/>
                <a:ea typeface="Big Shoulders ExtraBold" pitchFamily="34" charset="-122"/>
                <a:cs typeface="Big Shoulders ExtraBold" pitchFamily="34" charset="-120"/>
              </a:rPr>
              <a:t>ĐỀ TÀI 2: DỮ LIỆU TỔNG HỢP 10.000 CỬA SỔ, MÔ HÌNH 25.505 THAM SỐ</a:t>
            </a:r>
            <a:endParaRPr lang="en-US" sz="4800" dirty="0"/>
          </a:p>
        </p:txBody>
      </p:sp>
      <p:sp>
        <p:nvSpPr>
          <p:cNvPr id="3" name="Text 1"/>
          <p:cNvSpPr/>
          <p:nvPr/>
        </p:nvSpPr>
        <p:spPr>
          <a:xfrm>
            <a:off x="609585" y="1899444"/>
            <a:ext cx="11582110" cy="206375"/>
          </a:xfrm>
          <a:prstGeom prst="rect">
            <a:avLst/>
          </a:prstGeom>
          <a:noFill/>
        </p:spPr>
        <p:txBody>
          <a:bodyPr wrap="none" lIns="0" tIns="0" rIns="0" bIns="0" rtlCol="0" anchor="t"/>
          <a:lstStyle/>
          <a:p>
            <a:pPr marL="0" indent="0" algn="l">
              <a:lnSpc>
                <a:spcPct val="104000"/>
              </a:lnSpc>
              <a:buNone/>
            </a:pPr>
            <a:r>
              <a:rPr lang="en-US" sz="1300" kern="100" spc="13" dirty="0">
                <a:solidFill>
                  <a:srgbClr val="16171D"/>
                </a:solidFill>
                <a:latin typeface="Noto Sans" panose="020B0502040504020204" pitchFamily="34" charset="0"/>
                <a:ea typeface="Noto Sans" panose="020B0502040504020204" pitchFamily="34" charset="-122"/>
                <a:cs typeface="Noto Sans" panose="020B0502040504020204" pitchFamily="34" charset="-120"/>
              </a:rPr>
              <a:t>Kiến trúc pipeline CNN–LSTM từ tín hiệu 1D đến giá trị BPM</a:t>
            </a:r>
            <a:endParaRPr lang="en-US" sz="1300" dirty="0"/>
          </a:p>
        </p:txBody>
      </p:sp>
      <p:sp>
        <p:nvSpPr>
          <p:cNvPr id="4" name="Shape 2"/>
          <p:cNvSpPr/>
          <p:nvPr/>
        </p:nvSpPr>
        <p:spPr>
          <a:xfrm>
            <a:off x="711182" y="2312392"/>
            <a:ext cx="330192" cy="330200"/>
          </a:xfrm>
          <a:prstGeom prst="ellipse">
            <a:avLst/>
          </a:prstGeom>
          <a:solidFill>
            <a:srgbClr val="16171D"/>
          </a:solidFill>
          <a:ln w="6350">
            <a:solidFill>
              <a:srgbClr val="D5D3CA"/>
            </a:solidFill>
            <a:prstDash val="solid"/>
          </a:ln>
        </p:spPr>
      </p:sp>
      <p:sp>
        <p:nvSpPr>
          <p:cNvPr id="5" name="Text 3"/>
          <p:cNvSpPr/>
          <p:nvPr/>
        </p:nvSpPr>
        <p:spPr>
          <a:xfrm>
            <a:off x="830043" y="2410817"/>
            <a:ext cx="1254391" cy="165100"/>
          </a:xfrm>
          <a:prstGeom prst="rect">
            <a:avLst/>
          </a:prstGeom>
          <a:noFill/>
        </p:spPr>
        <p:txBody>
          <a:bodyPr wrap="none" lIns="0" tIns="0" rIns="0" bIns="0" rtlCol="0" anchor="t"/>
          <a:lstStyle/>
          <a:p>
            <a:pPr marL="0" indent="0" algn="l">
              <a:lnSpc>
                <a:spcPct val="83000"/>
              </a:lnSpc>
              <a:buNone/>
            </a:pPr>
            <a:r>
              <a:rPr lang="en-US" sz="1300" b="1" dirty="0">
                <a:solidFill>
                  <a:srgbClr val="FFFFFF"/>
                </a:solidFill>
                <a:latin typeface="Hanken Grotesk Bold" pitchFamily="34" charset="0"/>
                <a:ea typeface="Hanken Grotesk Bold" pitchFamily="34" charset="-122"/>
                <a:cs typeface="Hanken Grotesk Bold" pitchFamily="34" charset="-120"/>
              </a:rPr>
              <a:t>1</a:t>
            </a:r>
            <a:endParaRPr lang="en-US" sz="1300" dirty="0"/>
          </a:p>
        </p:txBody>
      </p:sp>
      <p:sp>
        <p:nvSpPr>
          <p:cNvPr id="6" name="Text 4"/>
          <p:cNvSpPr/>
          <p:nvPr/>
        </p:nvSpPr>
        <p:spPr>
          <a:xfrm>
            <a:off x="711182" y="2772285"/>
            <a:ext cx="1751266" cy="321270"/>
          </a:xfrm>
          <a:prstGeom prst="rect">
            <a:avLst/>
          </a:prstGeom>
          <a:noFill/>
        </p:spPr>
        <p:txBody>
          <a:bodyPr wrap="none" lIns="0" tIns="0" rIns="0" bIns="0" rtlCol="0" anchor="t"/>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Đầu vào</a:t>
            </a:r>
            <a:endParaRPr lang="en-US" sz="2200" dirty="0"/>
          </a:p>
        </p:txBody>
      </p:sp>
      <p:sp>
        <p:nvSpPr>
          <p:cNvPr id="7" name="Shape 5"/>
          <p:cNvSpPr/>
          <p:nvPr/>
        </p:nvSpPr>
        <p:spPr>
          <a:xfrm>
            <a:off x="711182" y="3230563"/>
            <a:ext cx="1808415" cy="1530152"/>
          </a:xfrm>
          <a:prstGeom prst="rect">
            <a:avLst/>
          </a:prstGeom>
          <a:noFill/>
          <a:ln w="19050">
            <a:solidFill>
              <a:srgbClr val="16171D"/>
            </a:solidFill>
            <a:prstDash val="solid"/>
          </a:ln>
        </p:spPr>
      </p:sp>
      <p:sp>
        <p:nvSpPr>
          <p:cNvPr id="8" name="Text 6"/>
          <p:cNvSpPr/>
          <p:nvPr/>
        </p:nvSpPr>
        <p:spPr>
          <a:xfrm>
            <a:off x="831829" y="3374410"/>
            <a:ext cx="1567121" cy="554831"/>
          </a:xfrm>
          <a:prstGeom prst="rect">
            <a:avLst/>
          </a:prstGeom>
          <a:noFill/>
        </p:spPr>
        <p:txBody>
          <a:bodyPr wrap="square" lIns="0" tIns="0" rIns="0" bIns="0" rtlCol="0" anchor="t">
            <a:normAutofit/>
          </a:bodyPr>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1.000 × 1 điểm</a:t>
            </a:r>
            <a:endParaRPr lang="en-US" sz="1900" dirty="0"/>
          </a:p>
        </p:txBody>
      </p:sp>
      <p:sp>
        <p:nvSpPr>
          <p:cNvPr id="9" name="Text 7"/>
          <p:cNvSpPr/>
          <p:nvPr/>
        </p:nvSpPr>
        <p:spPr>
          <a:xfrm>
            <a:off x="831829" y="4071858"/>
            <a:ext cx="1509972"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Cửa sổ 8 giây @ 125 Hz</a:t>
            </a:r>
            <a:endParaRPr lang="en-US" sz="1600" dirty="0"/>
          </a:p>
        </p:txBody>
      </p:sp>
      <p:sp>
        <p:nvSpPr>
          <p:cNvPr id="10" name="Shape 8"/>
          <p:cNvSpPr/>
          <p:nvPr/>
        </p:nvSpPr>
        <p:spPr>
          <a:xfrm>
            <a:off x="711182" y="4913213"/>
            <a:ext cx="1808415" cy="1252637"/>
          </a:xfrm>
          <a:prstGeom prst="rect">
            <a:avLst/>
          </a:prstGeom>
          <a:noFill/>
          <a:ln w="19050">
            <a:solidFill>
              <a:srgbClr val="16171D"/>
            </a:solidFill>
            <a:prstDash val="solid"/>
          </a:ln>
        </p:spPr>
      </p:sp>
      <p:sp>
        <p:nvSpPr>
          <p:cNvPr id="11" name="Text 9"/>
          <p:cNvSpPr/>
          <p:nvPr/>
        </p:nvSpPr>
        <p:spPr>
          <a:xfrm>
            <a:off x="831829" y="5056961"/>
            <a:ext cx="2263818"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10.000 mẫu</a:t>
            </a:r>
            <a:endParaRPr lang="en-US" sz="1900" dirty="0"/>
          </a:p>
        </p:txBody>
      </p:sp>
      <p:sp>
        <p:nvSpPr>
          <p:cNvPr id="12" name="Text 10"/>
          <p:cNvSpPr/>
          <p:nvPr/>
        </p:nvSpPr>
        <p:spPr>
          <a:xfrm>
            <a:off x="831829" y="5476994"/>
            <a:ext cx="1509972"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8.000 sạch + 2.000 nhiễu</a:t>
            </a:r>
            <a:endParaRPr lang="en-US" sz="1600" dirty="0"/>
          </a:p>
        </p:txBody>
      </p:sp>
      <p:sp>
        <p:nvSpPr>
          <p:cNvPr id="13" name="Text 11"/>
          <p:cNvSpPr/>
          <p:nvPr/>
        </p:nvSpPr>
        <p:spPr>
          <a:xfrm>
            <a:off x="2316402" y="4081125"/>
            <a:ext cx="1158151" cy="319980"/>
          </a:xfrm>
          <a:prstGeom prst="rect">
            <a:avLst/>
          </a:prstGeom>
          <a:noFill/>
        </p:spPr>
        <p:txBody>
          <a:bodyPr wrap="none" lIns="0" tIns="0" rIns="0" bIns="0" rtlCol="0" anchor="t"/>
          <a:lstStyle/>
          <a:p>
            <a:pPr marL="0" indent="0" algn="ctr">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a:t>
            </a:r>
            <a:endParaRPr lang="en-US" sz="1800" dirty="0"/>
          </a:p>
        </p:txBody>
      </p:sp>
      <p:sp>
        <p:nvSpPr>
          <p:cNvPr id="14" name="Shape 12"/>
          <p:cNvSpPr/>
          <p:nvPr/>
        </p:nvSpPr>
        <p:spPr>
          <a:xfrm>
            <a:off x="3169662" y="2185392"/>
            <a:ext cx="2560177" cy="4107557"/>
          </a:xfrm>
          <a:prstGeom prst="rect">
            <a:avLst/>
          </a:prstGeom>
          <a:solidFill>
            <a:srgbClr val="FF8424"/>
          </a:solidFill>
        </p:spPr>
      </p:sp>
      <p:sp>
        <p:nvSpPr>
          <p:cNvPr id="15" name="Shape 13"/>
          <p:cNvSpPr/>
          <p:nvPr/>
        </p:nvSpPr>
        <p:spPr>
          <a:xfrm>
            <a:off x="3271260" y="2312392"/>
            <a:ext cx="330192" cy="330200"/>
          </a:xfrm>
          <a:prstGeom prst="ellipse">
            <a:avLst/>
          </a:prstGeom>
          <a:solidFill>
            <a:srgbClr val="16171D"/>
          </a:solidFill>
          <a:ln w="6350">
            <a:solidFill>
              <a:srgbClr val="D5D3CA"/>
            </a:solidFill>
            <a:prstDash val="solid"/>
          </a:ln>
        </p:spPr>
      </p:sp>
      <p:sp>
        <p:nvSpPr>
          <p:cNvPr id="16" name="Text 14"/>
          <p:cNvSpPr/>
          <p:nvPr/>
        </p:nvSpPr>
        <p:spPr>
          <a:xfrm>
            <a:off x="3390121" y="2410817"/>
            <a:ext cx="1254391" cy="165100"/>
          </a:xfrm>
          <a:prstGeom prst="rect">
            <a:avLst/>
          </a:prstGeom>
          <a:noFill/>
        </p:spPr>
        <p:txBody>
          <a:bodyPr wrap="none" lIns="0" tIns="0" rIns="0" bIns="0" rtlCol="0" anchor="t"/>
          <a:lstStyle/>
          <a:p>
            <a:pPr marL="0" indent="0" algn="l">
              <a:lnSpc>
                <a:spcPct val="83000"/>
              </a:lnSpc>
              <a:buNone/>
            </a:pPr>
            <a:r>
              <a:rPr lang="en-US" sz="1300" b="1" dirty="0">
                <a:solidFill>
                  <a:srgbClr val="FFFFFF"/>
                </a:solidFill>
                <a:latin typeface="Hanken Grotesk Bold" pitchFamily="34" charset="0"/>
                <a:ea typeface="Hanken Grotesk Bold" pitchFamily="34" charset="-122"/>
                <a:cs typeface="Hanken Grotesk Bold" pitchFamily="34" charset="-120"/>
              </a:rPr>
              <a:t>2</a:t>
            </a:r>
            <a:endParaRPr lang="en-US" sz="1300" dirty="0"/>
          </a:p>
        </p:txBody>
      </p:sp>
      <p:sp>
        <p:nvSpPr>
          <p:cNvPr id="17" name="Text 15"/>
          <p:cNvSpPr/>
          <p:nvPr/>
        </p:nvSpPr>
        <p:spPr>
          <a:xfrm>
            <a:off x="3271260" y="2772285"/>
            <a:ext cx="2299833" cy="321270"/>
          </a:xfrm>
          <a:prstGeom prst="rect">
            <a:avLst/>
          </a:prstGeom>
          <a:noFill/>
        </p:spPr>
        <p:txBody>
          <a:bodyPr wrap="none" lIns="0" tIns="0" rIns="0" bIns="0" rtlCol="0" anchor="t"/>
          <a:lstStyle/>
          <a:p>
            <a:pPr marL="0" indent="0" algn="l">
              <a:lnSpc>
                <a:spcPct val="96000"/>
              </a:lnSpc>
              <a:buNone/>
            </a:pPr>
            <a:r>
              <a:rPr lang="en-US" sz="2200" b="1" kern="100" spc="-11" dirty="0">
                <a:solidFill>
                  <a:srgbClr val="000000"/>
                </a:solidFill>
                <a:latin typeface="Hanken Grotesk Bold" pitchFamily="34" charset="0"/>
                <a:ea typeface="Hanken Grotesk Bold" pitchFamily="34" charset="-122"/>
                <a:cs typeface="Hanken Grotesk Bold" pitchFamily="34" charset="-120"/>
              </a:rPr>
              <a:t>3 Khối Conv1D</a:t>
            </a:r>
            <a:endParaRPr lang="en-US" sz="2200" dirty="0"/>
          </a:p>
        </p:txBody>
      </p:sp>
      <p:sp>
        <p:nvSpPr>
          <p:cNvPr id="18" name="Shape 16"/>
          <p:cNvSpPr/>
          <p:nvPr/>
        </p:nvSpPr>
        <p:spPr>
          <a:xfrm>
            <a:off x="3271260" y="3230563"/>
            <a:ext cx="2356982" cy="1252637"/>
          </a:xfrm>
          <a:prstGeom prst="rect">
            <a:avLst/>
          </a:prstGeom>
          <a:solidFill>
            <a:srgbClr val="FF8424"/>
          </a:solidFill>
          <a:ln w="19050">
            <a:solidFill>
              <a:srgbClr val="16171D"/>
            </a:solidFill>
            <a:prstDash val="solid"/>
          </a:ln>
        </p:spPr>
      </p:sp>
      <p:sp>
        <p:nvSpPr>
          <p:cNvPr id="19" name="Text 17"/>
          <p:cNvSpPr/>
          <p:nvPr/>
        </p:nvSpPr>
        <p:spPr>
          <a:xfrm>
            <a:off x="3391907" y="3374410"/>
            <a:ext cx="2901877"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000000"/>
                </a:solidFill>
                <a:latin typeface="Hanken Grotesk Bold" pitchFamily="34" charset="0"/>
                <a:ea typeface="Hanken Grotesk Bold" pitchFamily="34" charset="-122"/>
                <a:cs typeface="Hanken Grotesk Bold" pitchFamily="34" charset="-120"/>
              </a:rPr>
              <a:t>Bộ lọc 16, 32, 64</a:t>
            </a:r>
            <a:endParaRPr lang="en-US" sz="1900" dirty="0"/>
          </a:p>
        </p:txBody>
      </p:sp>
      <p:sp>
        <p:nvSpPr>
          <p:cNvPr id="20" name="Text 18"/>
          <p:cNvSpPr/>
          <p:nvPr/>
        </p:nvSpPr>
        <p:spPr>
          <a:xfrm>
            <a:off x="3391907" y="3794442"/>
            <a:ext cx="2058539"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000000"/>
                </a:solidFill>
                <a:latin typeface="Hanken Grotesk" pitchFamily="34" charset="0"/>
                <a:ea typeface="Hanken Grotesk" pitchFamily="34" charset="-122"/>
                <a:cs typeface="Hanken Grotesk" pitchFamily="34" charset="-120"/>
              </a:rPr>
              <a:t>BatchNorm + ReLU kích hoạt</a:t>
            </a:r>
            <a:endParaRPr lang="en-US" sz="1600" dirty="0"/>
          </a:p>
        </p:txBody>
      </p:sp>
      <p:sp>
        <p:nvSpPr>
          <p:cNvPr id="21" name="Shape 19"/>
          <p:cNvSpPr/>
          <p:nvPr/>
        </p:nvSpPr>
        <p:spPr>
          <a:xfrm>
            <a:off x="3271260" y="4635698"/>
            <a:ext cx="2356982" cy="1252637"/>
          </a:xfrm>
          <a:prstGeom prst="rect">
            <a:avLst/>
          </a:prstGeom>
          <a:solidFill>
            <a:srgbClr val="FF8424"/>
          </a:solidFill>
          <a:ln w="19050">
            <a:solidFill>
              <a:srgbClr val="16171D"/>
            </a:solidFill>
            <a:prstDash val="solid"/>
          </a:ln>
        </p:spPr>
      </p:sp>
      <p:sp>
        <p:nvSpPr>
          <p:cNvPr id="22" name="Text 20"/>
          <p:cNvSpPr/>
          <p:nvPr/>
        </p:nvSpPr>
        <p:spPr>
          <a:xfrm>
            <a:off x="3391907" y="4779645"/>
            <a:ext cx="2789168"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000000"/>
                </a:solidFill>
                <a:latin typeface="Hanken Grotesk Bold" pitchFamily="34" charset="0"/>
                <a:ea typeface="Hanken Grotesk Bold" pitchFamily="34" charset="-122"/>
                <a:cs typeface="Hanken Grotesk Bold" pitchFamily="34" charset="-120"/>
              </a:rPr>
              <a:t>Giảm chiều 8 lần</a:t>
            </a:r>
            <a:endParaRPr lang="en-US" sz="1900" dirty="0"/>
          </a:p>
        </p:txBody>
      </p:sp>
      <p:sp>
        <p:nvSpPr>
          <p:cNvPr id="23" name="Text 21"/>
          <p:cNvSpPr/>
          <p:nvPr/>
        </p:nvSpPr>
        <p:spPr>
          <a:xfrm>
            <a:off x="3391907" y="5199479"/>
            <a:ext cx="2058539"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000000"/>
                </a:solidFill>
                <a:latin typeface="Hanken Grotesk" pitchFamily="34" charset="0"/>
                <a:ea typeface="Hanken Grotesk" pitchFamily="34" charset="-122"/>
                <a:cs typeface="Hanken Grotesk" pitchFamily="34" charset="-120"/>
              </a:rPr>
              <a:t>MaxPooling: 1.000 → 125 bước</a:t>
            </a:r>
            <a:endParaRPr lang="en-US" sz="1600" dirty="0"/>
          </a:p>
        </p:txBody>
      </p:sp>
      <p:sp>
        <p:nvSpPr>
          <p:cNvPr id="24" name="Text 22"/>
          <p:cNvSpPr/>
          <p:nvPr/>
        </p:nvSpPr>
        <p:spPr>
          <a:xfrm>
            <a:off x="5425245" y="4081125"/>
            <a:ext cx="1158151" cy="319980"/>
          </a:xfrm>
          <a:prstGeom prst="rect">
            <a:avLst/>
          </a:prstGeom>
          <a:noFill/>
        </p:spPr>
        <p:txBody>
          <a:bodyPr wrap="none" lIns="0" tIns="0" rIns="0" bIns="0" rtlCol="0" anchor="t"/>
          <a:lstStyle/>
          <a:p>
            <a:pPr marL="0" indent="0" algn="ctr">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a:t>
            </a:r>
            <a:endParaRPr lang="en-US" sz="1800" dirty="0"/>
          </a:p>
        </p:txBody>
      </p:sp>
      <p:sp>
        <p:nvSpPr>
          <p:cNvPr id="25" name="Shape 23"/>
          <p:cNvSpPr/>
          <p:nvPr/>
        </p:nvSpPr>
        <p:spPr>
          <a:xfrm>
            <a:off x="6380301" y="2312392"/>
            <a:ext cx="330192" cy="330200"/>
          </a:xfrm>
          <a:prstGeom prst="ellipse">
            <a:avLst/>
          </a:prstGeom>
          <a:solidFill>
            <a:srgbClr val="16171D"/>
          </a:solidFill>
          <a:ln w="6350">
            <a:solidFill>
              <a:srgbClr val="D5D3CA"/>
            </a:solidFill>
            <a:prstDash val="solid"/>
          </a:ln>
        </p:spPr>
      </p:sp>
      <p:sp>
        <p:nvSpPr>
          <p:cNvPr id="26" name="Text 24"/>
          <p:cNvSpPr/>
          <p:nvPr/>
        </p:nvSpPr>
        <p:spPr>
          <a:xfrm>
            <a:off x="6499162" y="2410817"/>
            <a:ext cx="1254391" cy="165100"/>
          </a:xfrm>
          <a:prstGeom prst="rect">
            <a:avLst/>
          </a:prstGeom>
          <a:noFill/>
        </p:spPr>
        <p:txBody>
          <a:bodyPr wrap="none" lIns="0" tIns="0" rIns="0" bIns="0" rtlCol="0" anchor="t"/>
          <a:lstStyle/>
          <a:p>
            <a:pPr marL="0" indent="0" algn="l">
              <a:lnSpc>
                <a:spcPct val="83000"/>
              </a:lnSpc>
              <a:buNone/>
            </a:pPr>
            <a:r>
              <a:rPr lang="en-US" sz="1300" b="1" dirty="0">
                <a:solidFill>
                  <a:srgbClr val="FFFFFF"/>
                </a:solidFill>
                <a:latin typeface="Hanken Grotesk Bold" pitchFamily="34" charset="0"/>
                <a:ea typeface="Hanken Grotesk Bold" pitchFamily="34" charset="-122"/>
                <a:cs typeface="Hanken Grotesk Bold" pitchFamily="34" charset="-120"/>
              </a:rPr>
              <a:t>3</a:t>
            </a:r>
            <a:endParaRPr lang="en-US" sz="1300" dirty="0"/>
          </a:p>
        </p:txBody>
      </p:sp>
      <p:sp>
        <p:nvSpPr>
          <p:cNvPr id="27" name="Text 25"/>
          <p:cNvSpPr/>
          <p:nvPr/>
        </p:nvSpPr>
        <p:spPr>
          <a:xfrm>
            <a:off x="6380301" y="2772285"/>
            <a:ext cx="1997025" cy="321270"/>
          </a:xfrm>
          <a:prstGeom prst="rect">
            <a:avLst/>
          </a:prstGeom>
          <a:noFill/>
        </p:spPr>
        <p:txBody>
          <a:bodyPr wrap="none" lIns="0" tIns="0" rIns="0" bIns="0" rtlCol="0" anchor="t"/>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2 Lớp LSTM</a:t>
            </a:r>
            <a:endParaRPr lang="en-US" sz="2200" dirty="0"/>
          </a:p>
        </p:txBody>
      </p:sp>
      <p:sp>
        <p:nvSpPr>
          <p:cNvPr id="28" name="Shape 26"/>
          <p:cNvSpPr/>
          <p:nvPr/>
        </p:nvSpPr>
        <p:spPr>
          <a:xfrm>
            <a:off x="6380301" y="3230563"/>
            <a:ext cx="1991270" cy="1252637"/>
          </a:xfrm>
          <a:prstGeom prst="rect">
            <a:avLst/>
          </a:prstGeom>
          <a:noFill/>
          <a:ln w="19050">
            <a:solidFill>
              <a:srgbClr val="16171D"/>
            </a:solidFill>
            <a:prstDash val="solid"/>
          </a:ln>
        </p:spPr>
      </p:sp>
      <p:sp>
        <p:nvSpPr>
          <p:cNvPr id="29" name="Text 27"/>
          <p:cNvSpPr/>
          <p:nvPr/>
        </p:nvSpPr>
        <p:spPr>
          <a:xfrm>
            <a:off x="6500948" y="3374410"/>
            <a:ext cx="2313823"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32 &amp; 16 units</a:t>
            </a:r>
            <a:endParaRPr lang="en-US" sz="1900" dirty="0"/>
          </a:p>
        </p:txBody>
      </p:sp>
      <p:sp>
        <p:nvSpPr>
          <p:cNvPr id="30" name="Text 28"/>
          <p:cNvSpPr/>
          <p:nvPr/>
        </p:nvSpPr>
        <p:spPr>
          <a:xfrm>
            <a:off x="6500948" y="3794442"/>
            <a:ext cx="1749977"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Học quan hệ chuỗi dài</a:t>
            </a:r>
            <a:endParaRPr lang="en-US" sz="1600" dirty="0"/>
          </a:p>
        </p:txBody>
      </p:sp>
      <p:sp>
        <p:nvSpPr>
          <p:cNvPr id="31" name="Shape 29"/>
          <p:cNvSpPr/>
          <p:nvPr/>
        </p:nvSpPr>
        <p:spPr>
          <a:xfrm>
            <a:off x="6380301" y="4635698"/>
            <a:ext cx="1991270" cy="1530152"/>
          </a:xfrm>
          <a:prstGeom prst="rect">
            <a:avLst/>
          </a:prstGeom>
          <a:noFill/>
          <a:ln w="19050">
            <a:solidFill>
              <a:srgbClr val="16171D"/>
            </a:solidFill>
            <a:prstDash val="solid"/>
          </a:ln>
        </p:spPr>
      </p:sp>
      <p:sp>
        <p:nvSpPr>
          <p:cNvPr id="32" name="Text 30"/>
          <p:cNvSpPr/>
          <p:nvPr/>
        </p:nvSpPr>
        <p:spPr>
          <a:xfrm>
            <a:off x="6500948" y="4779645"/>
            <a:ext cx="1692828" cy="554831"/>
          </a:xfrm>
          <a:prstGeom prst="rect">
            <a:avLst/>
          </a:prstGeom>
          <a:noFill/>
        </p:spPr>
        <p:txBody>
          <a:bodyPr wrap="square" lIns="0" tIns="0" rIns="0" bIns="0" rtlCol="0" anchor="t">
            <a:normAutofit/>
          </a:bodyPr>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Đầu vào 125 × 64</a:t>
            </a:r>
            <a:endParaRPr lang="en-US" sz="1900" dirty="0"/>
          </a:p>
        </p:txBody>
      </p:sp>
      <p:sp>
        <p:nvSpPr>
          <p:cNvPr id="33" name="Text 31"/>
          <p:cNvSpPr/>
          <p:nvPr/>
        </p:nvSpPr>
        <p:spPr>
          <a:xfrm>
            <a:off x="6500948" y="5476994"/>
            <a:ext cx="1692828"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Đặc trưng nén từ Conv1D</a:t>
            </a:r>
            <a:endParaRPr lang="en-US" sz="1600" dirty="0"/>
          </a:p>
        </p:txBody>
      </p:sp>
      <p:sp>
        <p:nvSpPr>
          <p:cNvPr id="34" name="Text 32"/>
          <p:cNvSpPr/>
          <p:nvPr/>
        </p:nvSpPr>
        <p:spPr>
          <a:xfrm>
            <a:off x="8168376" y="4081125"/>
            <a:ext cx="1158151" cy="319980"/>
          </a:xfrm>
          <a:prstGeom prst="rect">
            <a:avLst/>
          </a:prstGeom>
          <a:noFill/>
        </p:spPr>
        <p:txBody>
          <a:bodyPr wrap="none" lIns="0" tIns="0" rIns="0" bIns="0" rtlCol="0" anchor="t"/>
          <a:lstStyle/>
          <a:p>
            <a:pPr marL="0" indent="0" algn="ctr">
              <a:lnSpc>
                <a:spcPct val="117000"/>
              </a:lnSpc>
              <a:buNone/>
            </a:pPr>
            <a:r>
              <a:rPr lang="en-US" sz="1800" dirty="0">
                <a:solidFill>
                  <a:srgbClr val="16171D"/>
                </a:solidFill>
                <a:latin typeface="Hanken Grotesk" pitchFamily="34" charset="0"/>
                <a:ea typeface="Hanken Grotesk" pitchFamily="34" charset="-122"/>
                <a:cs typeface="Hanken Grotesk" pitchFamily="34" charset="-120"/>
              </a:rPr>
              <a:t>→</a:t>
            </a:r>
            <a:endParaRPr lang="en-US" sz="1800" dirty="0"/>
          </a:p>
        </p:txBody>
      </p:sp>
      <p:sp>
        <p:nvSpPr>
          <p:cNvPr id="35" name="Shape 33"/>
          <p:cNvSpPr/>
          <p:nvPr/>
        </p:nvSpPr>
        <p:spPr>
          <a:xfrm>
            <a:off x="9123432" y="2312392"/>
            <a:ext cx="330192" cy="330200"/>
          </a:xfrm>
          <a:prstGeom prst="ellipse">
            <a:avLst/>
          </a:prstGeom>
          <a:solidFill>
            <a:srgbClr val="16171D"/>
          </a:solidFill>
          <a:ln w="6350">
            <a:solidFill>
              <a:srgbClr val="D5D3CA"/>
            </a:solidFill>
            <a:prstDash val="solid"/>
          </a:ln>
        </p:spPr>
      </p:sp>
      <p:sp>
        <p:nvSpPr>
          <p:cNvPr id="36" name="Text 34"/>
          <p:cNvSpPr/>
          <p:nvPr/>
        </p:nvSpPr>
        <p:spPr>
          <a:xfrm>
            <a:off x="9242293" y="2410817"/>
            <a:ext cx="1254391" cy="165100"/>
          </a:xfrm>
          <a:prstGeom prst="rect">
            <a:avLst/>
          </a:prstGeom>
          <a:noFill/>
        </p:spPr>
        <p:txBody>
          <a:bodyPr wrap="none" lIns="0" tIns="0" rIns="0" bIns="0" rtlCol="0" anchor="t"/>
          <a:lstStyle/>
          <a:p>
            <a:pPr marL="0" indent="0" algn="l">
              <a:lnSpc>
                <a:spcPct val="83000"/>
              </a:lnSpc>
              <a:buNone/>
            </a:pPr>
            <a:r>
              <a:rPr lang="en-US" sz="1300" b="1" dirty="0">
                <a:solidFill>
                  <a:srgbClr val="FFFFFF"/>
                </a:solidFill>
                <a:latin typeface="Hanken Grotesk Bold" pitchFamily="34" charset="0"/>
                <a:ea typeface="Hanken Grotesk Bold" pitchFamily="34" charset="-122"/>
                <a:cs typeface="Hanken Grotesk Bold" pitchFamily="34" charset="-120"/>
              </a:rPr>
              <a:t>4</a:t>
            </a:r>
            <a:endParaRPr lang="en-US" sz="1300" dirty="0"/>
          </a:p>
        </p:txBody>
      </p:sp>
      <p:sp>
        <p:nvSpPr>
          <p:cNvPr id="37" name="Text 35"/>
          <p:cNvSpPr/>
          <p:nvPr/>
        </p:nvSpPr>
        <p:spPr>
          <a:xfrm>
            <a:off x="9123432" y="2772285"/>
            <a:ext cx="2299833" cy="321270"/>
          </a:xfrm>
          <a:prstGeom prst="rect">
            <a:avLst/>
          </a:prstGeom>
          <a:noFill/>
        </p:spPr>
        <p:txBody>
          <a:bodyPr wrap="none" lIns="0" tIns="0" rIns="0" bIns="0" rtlCol="0" anchor="t"/>
          <a:lstStyle/>
          <a:p>
            <a:pPr marL="0" indent="0" algn="l">
              <a:lnSpc>
                <a:spcPct val="96000"/>
              </a:lnSpc>
              <a:buNone/>
            </a:pPr>
            <a:r>
              <a:rPr lang="en-US" sz="2200" b="1" kern="100" spc="-11" dirty="0">
                <a:solidFill>
                  <a:srgbClr val="16171D"/>
                </a:solidFill>
                <a:latin typeface="Hanken Grotesk Bold" pitchFamily="34" charset="0"/>
                <a:ea typeface="Hanken Grotesk Bold" pitchFamily="34" charset="-122"/>
                <a:cs typeface="Hanken Grotesk Bold" pitchFamily="34" charset="-120"/>
              </a:rPr>
              <a:t>Đầu ra</a:t>
            </a:r>
            <a:endParaRPr lang="en-US" sz="2200" dirty="0"/>
          </a:p>
        </p:txBody>
      </p:sp>
      <p:sp>
        <p:nvSpPr>
          <p:cNvPr id="38" name="Shape 36"/>
          <p:cNvSpPr/>
          <p:nvPr/>
        </p:nvSpPr>
        <p:spPr>
          <a:xfrm>
            <a:off x="9123432" y="3230563"/>
            <a:ext cx="2356982" cy="1252637"/>
          </a:xfrm>
          <a:prstGeom prst="rect">
            <a:avLst/>
          </a:prstGeom>
          <a:noFill/>
          <a:ln w="19050">
            <a:solidFill>
              <a:srgbClr val="16171D"/>
            </a:solidFill>
            <a:prstDash val="solid"/>
          </a:ln>
        </p:spPr>
      </p:sp>
      <p:sp>
        <p:nvSpPr>
          <p:cNvPr id="39" name="Text 37"/>
          <p:cNvSpPr/>
          <p:nvPr/>
        </p:nvSpPr>
        <p:spPr>
          <a:xfrm>
            <a:off x="9244079" y="3374410"/>
            <a:ext cx="2668124"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Dense Layer</a:t>
            </a:r>
            <a:endParaRPr lang="en-US" sz="1900" dirty="0"/>
          </a:p>
        </p:txBody>
      </p:sp>
      <p:sp>
        <p:nvSpPr>
          <p:cNvPr id="40" name="Text 38"/>
          <p:cNvSpPr/>
          <p:nvPr/>
        </p:nvSpPr>
        <p:spPr>
          <a:xfrm>
            <a:off x="9244079" y="3794442"/>
            <a:ext cx="2115688"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1 nơ-ron hồi quy tuyến tính</a:t>
            </a:r>
            <a:endParaRPr lang="en-US" sz="1600" dirty="0"/>
          </a:p>
        </p:txBody>
      </p:sp>
      <p:sp>
        <p:nvSpPr>
          <p:cNvPr id="41" name="Shape 39"/>
          <p:cNvSpPr/>
          <p:nvPr/>
        </p:nvSpPr>
        <p:spPr>
          <a:xfrm>
            <a:off x="9123432" y="4635698"/>
            <a:ext cx="2356982" cy="1252637"/>
          </a:xfrm>
          <a:prstGeom prst="rect">
            <a:avLst/>
          </a:prstGeom>
          <a:noFill/>
          <a:ln w="19050">
            <a:solidFill>
              <a:srgbClr val="16171D"/>
            </a:solidFill>
            <a:prstDash val="solid"/>
          </a:ln>
        </p:spPr>
      </p:sp>
      <p:sp>
        <p:nvSpPr>
          <p:cNvPr id="42" name="Text 40"/>
          <p:cNvSpPr/>
          <p:nvPr/>
        </p:nvSpPr>
        <p:spPr>
          <a:xfrm>
            <a:off x="9244079" y="4779645"/>
            <a:ext cx="2668124"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1 giá trị BPM</a:t>
            </a:r>
            <a:endParaRPr lang="en-US" sz="1900" dirty="0"/>
          </a:p>
        </p:txBody>
      </p:sp>
      <p:sp>
        <p:nvSpPr>
          <p:cNvPr id="43" name="Text 41"/>
          <p:cNvSpPr/>
          <p:nvPr/>
        </p:nvSpPr>
        <p:spPr>
          <a:xfrm>
            <a:off x="9244079" y="5199479"/>
            <a:ext cx="2115688"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16171D"/>
                </a:solidFill>
                <a:latin typeface="Hanken Grotesk" pitchFamily="34" charset="0"/>
                <a:ea typeface="Hanken Grotesk" pitchFamily="34" charset="-122"/>
                <a:cs typeface="Hanken Grotesk" pitchFamily="34" charset="-120"/>
              </a:rPr>
              <a:t>Tổng cộng 25.505 tham số</a:t>
            </a:r>
            <a:endParaRPr lang="en-US" sz="1600" dirty="0"/>
          </a:p>
        </p:txBody>
      </p:sp>
      <p:sp>
        <p:nvSpPr>
          <p:cNvPr id="44" name="Text 42"/>
          <p:cNvSpPr/>
          <p:nvPr/>
        </p:nvSpPr>
        <p:spPr>
          <a:xfrm>
            <a:off x="609585" y="6529487"/>
            <a:ext cx="11582110" cy="206375"/>
          </a:xfrm>
          <a:prstGeom prst="rect">
            <a:avLst/>
          </a:prstGeom>
          <a:noFill/>
        </p:spPr>
        <p:txBody>
          <a:bodyPr wrap="none" lIns="0" tIns="0" rIns="0" bIns="0" rtlCol="0" anchor="t"/>
          <a:lstStyle/>
          <a:p>
            <a:pPr marL="0" indent="0" algn="l">
              <a:lnSpc>
                <a:spcPct val="104000"/>
              </a:lnSpc>
              <a:buNone/>
            </a:pPr>
            <a:r>
              <a:rPr lang="en-US" sz="1300" kern="100" spc="13" dirty="0">
                <a:solidFill>
                  <a:srgbClr val="16171D"/>
                </a:solidFill>
                <a:latin typeface="Noto Sans" panose="020B0502040504020204" pitchFamily="34" charset="0"/>
                <a:ea typeface="Noto Sans" panose="020B0502040504020204" pitchFamily="34" charset="-122"/>
                <a:cs typeface="Noto Sans" panose="020B0502040504020204" pitchFamily="34" charset="-120"/>
              </a:rPr>
              <a:t>Phân chia tập dữ liệu: 7.225 huấn luyện · 1.275 kiểm định · 1.500 kiểm thử</a:t>
            </a:r>
            <a:endParaRPr lang="en-US" sz="1300" dirty="0"/>
          </a:p>
        </p:txBody>
      </p:sp>
      <p:pic>
        <p:nvPicPr>
          <p:cNvPr id="45" name="Image 0" descr="preencoded.png"/>
          <p:cNvPicPr>
            <a:picLocks noChangeAspect="1"/>
          </p:cNvPicPr>
          <p:nvPr/>
        </p:nvPicPr>
        <p:blipFill>
          <a:blip r:embed="rId1"/>
          <a:stretch>
            <a:fillRect/>
          </a:stretch>
        </p:blipFill>
        <p:spPr>
          <a:xfrm>
            <a:off x="11077000" y="6559252"/>
            <a:ext cx="1071833" cy="255984"/>
          </a:xfrm>
          <a:prstGeom prst="rect">
            <a:avLst/>
          </a:prstGeom>
          <a:solidFill>
            <a:schemeClr val="bg1"/>
          </a:solid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4876678" cy="6858000"/>
          </a:xfrm>
          <a:prstGeom prst="rect">
            <a:avLst/>
          </a:prstGeom>
          <a:solidFill>
            <a:srgbClr val="FF8424"/>
          </a:solidFill>
        </p:spPr>
      </p:sp>
      <p:sp>
        <p:nvSpPr>
          <p:cNvPr id="3" name="Text 1"/>
          <p:cNvSpPr/>
          <p:nvPr/>
        </p:nvSpPr>
        <p:spPr>
          <a:xfrm>
            <a:off x="609585" y="868276"/>
            <a:ext cx="3581310" cy="1028105"/>
          </a:xfrm>
          <a:prstGeom prst="rect">
            <a:avLst/>
          </a:prstGeom>
          <a:noFill/>
        </p:spPr>
        <p:txBody>
          <a:bodyPr wrap="none" lIns="0" tIns="0" rIns="0" bIns="0" rtlCol="0" anchor="t"/>
          <a:lstStyle/>
          <a:p>
            <a:pPr marL="0" indent="0" algn="l">
              <a:lnSpc>
                <a:spcPct val="77000"/>
              </a:lnSpc>
              <a:buNone/>
            </a:pPr>
            <a:r>
              <a:rPr lang="en-US" sz="8800" dirty="0">
                <a:solidFill>
                  <a:srgbClr val="000000"/>
                </a:solidFill>
                <a:latin typeface="Big Shoulders ExtraBold" pitchFamily="34" charset="0"/>
                <a:ea typeface="Big Shoulders ExtraBold" pitchFamily="34" charset="-122"/>
                <a:cs typeface="Big Shoulders ExtraBold" pitchFamily="34" charset="-120"/>
              </a:rPr>
              <a:t>0,54</a:t>
            </a:r>
            <a:endParaRPr lang="en-US" sz="8800" dirty="0"/>
          </a:p>
        </p:txBody>
      </p:sp>
      <p:sp>
        <p:nvSpPr>
          <p:cNvPr id="4" name="Text 2"/>
          <p:cNvSpPr/>
          <p:nvPr/>
        </p:nvSpPr>
        <p:spPr>
          <a:xfrm>
            <a:off x="609585" y="1818005"/>
            <a:ext cx="4200420" cy="373360"/>
          </a:xfrm>
          <a:prstGeom prst="rect">
            <a:avLst/>
          </a:prstGeom>
          <a:noFill/>
        </p:spPr>
        <p:txBody>
          <a:bodyPr wrap="none" lIns="0" tIns="0" rIns="0" bIns="0" rtlCol="0" anchor="t"/>
          <a:lstStyle/>
          <a:p>
            <a:pPr marL="0" indent="0" algn="l">
              <a:lnSpc>
                <a:spcPct val="117000"/>
              </a:lnSpc>
              <a:buNone/>
            </a:pPr>
            <a:r>
              <a:rPr lang="en-US" sz="2100" dirty="0">
                <a:solidFill>
                  <a:srgbClr val="000000"/>
                </a:solidFill>
                <a:latin typeface="Hanken Grotesk" pitchFamily="34" charset="0"/>
                <a:ea typeface="Hanken Grotesk" pitchFamily="34" charset="-122"/>
                <a:cs typeface="Hanken Grotesk" pitchFamily="34" charset="-120"/>
              </a:rPr>
              <a:t>BPM MAE tham chiếu</a:t>
            </a:r>
            <a:endParaRPr lang="en-US" sz="2100" dirty="0"/>
          </a:p>
        </p:txBody>
      </p:sp>
      <p:sp>
        <p:nvSpPr>
          <p:cNvPr id="5" name="Text 3"/>
          <p:cNvSpPr/>
          <p:nvPr/>
        </p:nvSpPr>
        <p:spPr>
          <a:xfrm>
            <a:off x="609585" y="3483935"/>
            <a:ext cx="3644809" cy="794445"/>
          </a:xfrm>
          <a:prstGeom prst="rect">
            <a:avLst/>
          </a:prstGeom>
          <a:noFill/>
        </p:spPr>
        <p:txBody>
          <a:bodyPr wrap="none" lIns="0" tIns="0" rIns="0" bIns="0" rtlCol="0" anchor="t"/>
          <a:lstStyle/>
          <a:p>
            <a:pPr marL="0" indent="0" algn="l">
              <a:lnSpc>
                <a:spcPct val="77000"/>
              </a:lnSpc>
              <a:buNone/>
            </a:pPr>
            <a:r>
              <a:rPr lang="en-US" sz="6800" dirty="0">
                <a:solidFill>
                  <a:srgbClr val="000000"/>
                </a:solidFill>
                <a:latin typeface="Big Shoulders ExtraBold" pitchFamily="34" charset="0"/>
                <a:ea typeface="Big Shoulders ExtraBold" pitchFamily="34" charset="-122"/>
                <a:cs typeface="Big Shoulders ExtraBold" pitchFamily="34" charset="-120"/>
              </a:rPr>
              <a:t>100%</a:t>
            </a:r>
            <a:endParaRPr lang="en-US" sz="6800" dirty="0"/>
          </a:p>
        </p:txBody>
      </p:sp>
      <p:sp>
        <p:nvSpPr>
          <p:cNvPr id="6" name="Text 4"/>
          <p:cNvSpPr/>
          <p:nvPr/>
        </p:nvSpPr>
        <p:spPr>
          <a:xfrm>
            <a:off x="609585" y="4267517"/>
            <a:ext cx="3809905"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000000"/>
                </a:solidFill>
                <a:latin typeface="Hanken Grotesk" pitchFamily="34" charset="0"/>
                <a:ea typeface="Hanken Grotesk" pitchFamily="34" charset="-122"/>
                <a:cs typeface="Hanken Grotesk" pitchFamily="34" charset="-120"/>
              </a:rPr>
              <a:t>Mẫu thử nghiệm có sai số nằm hoàn toàn trong ngưỡng khắt khe ±5 BPM</a:t>
            </a:r>
            <a:endParaRPr lang="en-US" sz="1600" dirty="0"/>
          </a:p>
        </p:txBody>
      </p:sp>
      <p:sp>
        <p:nvSpPr>
          <p:cNvPr id="7" name="Text 5"/>
          <p:cNvSpPr/>
          <p:nvPr/>
        </p:nvSpPr>
        <p:spPr>
          <a:xfrm>
            <a:off x="609585" y="5896927"/>
            <a:ext cx="3816255" cy="462161"/>
          </a:xfrm>
          <a:prstGeom prst="rect">
            <a:avLst/>
          </a:prstGeom>
          <a:noFill/>
        </p:spPr>
        <p:txBody>
          <a:bodyPr wrap="square" lIns="0" tIns="0" rIns="0" bIns="0" rtlCol="0" anchor="t">
            <a:normAutofit/>
          </a:bodyPr>
          <a:lstStyle/>
          <a:p>
            <a:pPr marL="0" indent="0" algn="l">
              <a:lnSpc>
                <a:spcPct val="108000"/>
              </a:lnSpc>
              <a:buNone/>
            </a:pPr>
            <a:r>
              <a:rPr lang="en-US" sz="1400" kern="100" spc="7" dirty="0">
                <a:solidFill>
                  <a:srgbClr val="000000"/>
                </a:solidFill>
                <a:latin typeface="Hanken Grotesk" pitchFamily="34" charset="0"/>
                <a:ea typeface="Hanken Grotesk" pitchFamily="34" charset="-122"/>
                <a:cs typeface="Hanken Grotesk" pitchFamily="34" charset="-120"/>
              </a:rPr>
              <a:t>Các lần thử nghiệm độc lập khác đạt MAE 0,83 và 0,93 BPM.</a:t>
            </a:r>
            <a:endParaRPr lang="en-US" sz="1400" dirty="0"/>
          </a:p>
        </p:txBody>
      </p:sp>
      <p:sp>
        <p:nvSpPr>
          <p:cNvPr id="8" name="Text 6"/>
          <p:cNvSpPr/>
          <p:nvPr/>
        </p:nvSpPr>
        <p:spPr>
          <a:xfrm>
            <a:off x="5333867" y="575995"/>
            <a:ext cx="6133947" cy="868561"/>
          </a:xfrm>
          <a:prstGeom prst="rect">
            <a:avLst/>
          </a:prstGeom>
          <a:noFill/>
        </p:spPr>
        <p:txBody>
          <a:bodyPr wrap="square" lIns="0" tIns="0" rIns="0" bIns="0" rtlCol="0" anchor="t">
            <a:normAutofit/>
          </a:bodyPr>
          <a:lstStyle/>
          <a:p>
            <a:pPr marL="0" indent="0" algn="l">
              <a:lnSpc>
                <a:spcPct val="79000"/>
              </a:lnSpc>
              <a:buNone/>
            </a:pPr>
            <a:r>
              <a:rPr lang="en-US" sz="3600" kern="100" spc="18" dirty="0">
                <a:solidFill>
                  <a:srgbClr val="16171D"/>
                </a:solidFill>
                <a:latin typeface="Big Shoulders ExtraBold" pitchFamily="34" charset="0"/>
                <a:ea typeface="Big Shoulders ExtraBold" pitchFamily="34" charset="-122"/>
                <a:cs typeface="Big Shoulders ExtraBold" pitchFamily="34" charset="-120"/>
              </a:rPr>
              <a:t>ĐỀ TÀI 2: MAE DƯỚI 1 BPM, MỌI MẪU NẰM TRONG ±5 BPM</a:t>
            </a:r>
            <a:endParaRPr lang="en-US" sz="3600" dirty="0"/>
          </a:p>
        </p:txBody>
      </p:sp>
      <p:sp>
        <p:nvSpPr>
          <p:cNvPr id="9" name="Text 7"/>
          <p:cNvSpPr/>
          <p:nvPr/>
        </p:nvSpPr>
        <p:spPr>
          <a:xfrm>
            <a:off x="5333867" y="1640681"/>
            <a:ext cx="6857828" cy="206375"/>
          </a:xfrm>
          <a:prstGeom prst="rect">
            <a:avLst/>
          </a:prstGeom>
          <a:noFill/>
        </p:spPr>
        <p:txBody>
          <a:bodyPr wrap="none" lIns="0" tIns="0" rIns="0" bIns="0" rtlCol="0" anchor="t"/>
          <a:lstStyle/>
          <a:p>
            <a:pPr marL="0" indent="0" algn="l">
              <a:lnSpc>
                <a:spcPct val="104000"/>
              </a:lnSpc>
              <a:buNone/>
            </a:pPr>
            <a:r>
              <a:rPr lang="en-US" sz="1300" kern="100" spc="13" dirty="0">
                <a:solidFill>
                  <a:srgbClr val="16171D"/>
                </a:solidFill>
                <a:latin typeface="Noto Sans" panose="020B0502040504020204" pitchFamily="34" charset="0"/>
                <a:ea typeface="Noto Sans" panose="020B0502040504020204" pitchFamily="34" charset="-122"/>
                <a:cs typeface="Noto Sans" panose="020B0502040504020204" pitchFamily="34" charset="-120"/>
              </a:rPr>
              <a:t>Đánh giá sai số tuyệt đối trung bình theo dải nhịp tim</a:t>
            </a:r>
            <a:endParaRPr lang="en-US" sz="1300" dirty="0"/>
          </a:p>
        </p:txBody>
      </p:sp>
      <p:pic>
        <p:nvPicPr>
          <p:cNvPr id="10" name="Image 0" descr="preencoded.png"/>
          <p:cNvPicPr>
            <a:picLocks noChangeAspect="1"/>
          </p:cNvPicPr>
          <p:nvPr/>
        </p:nvPicPr>
        <p:blipFill>
          <a:blip r:embed="rId1"/>
          <a:stretch>
            <a:fillRect/>
          </a:stretch>
        </p:blipFill>
        <p:spPr>
          <a:xfrm>
            <a:off x="5333867" y="2019300"/>
            <a:ext cx="6248244" cy="3499048"/>
          </a:xfrm>
          <a:prstGeom prst="rect">
            <a:avLst/>
          </a:prstGeom>
        </p:spPr>
      </p:pic>
      <p:sp>
        <p:nvSpPr>
          <p:cNvPr id="11" name="Text 8"/>
          <p:cNvSpPr/>
          <p:nvPr/>
        </p:nvSpPr>
        <p:spPr>
          <a:xfrm>
            <a:off x="5333867" y="5617527"/>
            <a:ext cx="6248244" cy="693241"/>
          </a:xfrm>
          <a:prstGeom prst="rect">
            <a:avLst/>
          </a:prstGeom>
          <a:noFill/>
        </p:spPr>
        <p:txBody>
          <a:bodyPr wrap="square" lIns="0" tIns="0" rIns="0" bIns="0" rtlCol="0" anchor="t">
            <a:normAutofit/>
          </a:bodyPr>
          <a:lstStyle/>
          <a:p>
            <a:pPr marL="0" indent="0" algn="l">
              <a:lnSpc>
                <a:spcPct val="108000"/>
              </a:lnSpc>
              <a:buNone/>
            </a:pPr>
            <a:r>
              <a:rPr lang="en-US" sz="1400" kern="100" spc="7" dirty="0">
                <a:solidFill>
                  <a:srgbClr val="4E5058"/>
                </a:solidFill>
                <a:latin typeface="Hanken Grotesk" pitchFamily="34" charset="0"/>
                <a:ea typeface="Hanken Grotesk" pitchFamily="34" charset="-122"/>
                <a:cs typeface="Hanken Grotesk" pitchFamily="34" charset="-120"/>
              </a:rPr>
              <a:t>Nhận xét: Sai số tăng dần theo tần số tim, đạt mức cao nhất 1,87 BPM ở vùng vận động mạnh (130–150 BPM) nhưng vẫn thấp hơn rất nhiều so với dung sai y tế cho phép (±5 BPM).</a:t>
            </a:r>
            <a:endParaRPr lang="en-US" sz="1400" dirty="0"/>
          </a:p>
        </p:txBody>
      </p:sp>
      <p:pic>
        <p:nvPicPr>
          <p:cNvPr id="12" name="Image 1" descr="preencoded.png"/>
          <p:cNvPicPr>
            <a:picLocks noChangeAspect="1"/>
          </p:cNvPicPr>
          <p:nvPr/>
        </p:nvPicPr>
        <p:blipFill>
          <a:blip r:embed="rId2"/>
          <a:stretch>
            <a:fillRect/>
          </a:stretch>
        </p:blipFill>
        <p:spPr>
          <a:xfrm>
            <a:off x="11077000" y="6559252"/>
            <a:ext cx="1071833" cy="255984"/>
          </a:xfrm>
          <a:prstGeom prst="rect">
            <a:avLst/>
          </a:prstGeom>
          <a:solidFill>
            <a:schemeClr val="bg1"/>
          </a:solid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4876678" cy="6858000"/>
          </a:xfrm>
          <a:prstGeom prst="rect">
            <a:avLst/>
          </a:prstGeom>
          <a:solidFill>
            <a:srgbClr val="FF8424"/>
          </a:solidFill>
        </p:spPr>
      </p:sp>
      <p:sp>
        <p:nvSpPr>
          <p:cNvPr id="3" name="Text 1"/>
          <p:cNvSpPr/>
          <p:nvPr/>
        </p:nvSpPr>
        <p:spPr>
          <a:xfrm>
            <a:off x="609585" y="873337"/>
            <a:ext cx="4267093" cy="1028105"/>
          </a:xfrm>
          <a:prstGeom prst="rect">
            <a:avLst/>
          </a:prstGeom>
          <a:noFill/>
        </p:spPr>
        <p:txBody>
          <a:bodyPr wrap="none" lIns="0" tIns="0" rIns="0" bIns="0" rtlCol="0" anchor="t"/>
          <a:lstStyle/>
          <a:p>
            <a:pPr marL="0" indent="0" algn="l">
              <a:lnSpc>
                <a:spcPct val="77000"/>
              </a:lnSpc>
              <a:buNone/>
            </a:pPr>
            <a:r>
              <a:rPr lang="en-US" sz="8800" dirty="0">
                <a:solidFill>
                  <a:srgbClr val="000000"/>
                </a:solidFill>
                <a:latin typeface="Big Shoulders ExtraBold" pitchFamily="34" charset="0"/>
                <a:ea typeface="Big Shoulders ExtraBold" pitchFamily="34" charset="-122"/>
                <a:cs typeface="Big Shoulders ExtraBold" pitchFamily="34" charset="-120"/>
              </a:rPr>
              <a:t>3,05×</a:t>
            </a:r>
            <a:endParaRPr lang="en-US" sz="8800" dirty="0"/>
          </a:p>
        </p:txBody>
      </p:sp>
      <p:sp>
        <p:nvSpPr>
          <p:cNvPr id="4" name="Text 2"/>
          <p:cNvSpPr/>
          <p:nvPr/>
        </p:nvSpPr>
        <p:spPr>
          <a:xfrm>
            <a:off x="609585" y="1819890"/>
            <a:ext cx="4267093" cy="373360"/>
          </a:xfrm>
          <a:prstGeom prst="rect">
            <a:avLst/>
          </a:prstGeom>
          <a:noFill/>
        </p:spPr>
        <p:txBody>
          <a:bodyPr wrap="none" lIns="0" tIns="0" rIns="0" bIns="0" rtlCol="0" anchor="t"/>
          <a:lstStyle/>
          <a:p>
            <a:pPr marL="0" indent="0" algn="l">
              <a:lnSpc>
                <a:spcPct val="117000"/>
              </a:lnSpc>
              <a:buNone/>
            </a:pPr>
            <a:r>
              <a:rPr lang="en-US" sz="2100" dirty="0">
                <a:solidFill>
                  <a:srgbClr val="000000"/>
                </a:solidFill>
                <a:latin typeface="Hanken Grotesk" pitchFamily="34" charset="0"/>
                <a:ea typeface="Hanken Grotesk" pitchFamily="34" charset="-122"/>
                <a:cs typeface="Hanken Grotesk" pitchFamily="34" charset="-120"/>
              </a:rPr>
              <a:t>Tốc độ suy luận nhanh hơn</a:t>
            </a:r>
            <a:endParaRPr lang="en-US" sz="2100" dirty="0"/>
          </a:p>
        </p:txBody>
      </p:sp>
      <p:sp>
        <p:nvSpPr>
          <p:cNvPr id="5" name="Text 3"/>
          <p:cNvSpPr/>
          <p:nvPr/>
        </p:nvSpPr>
        <p:spPr>
          <a:xfrm>
            <a:off x="609585" y="3479371"/>
            <a:ext cx="4267093" cy="794445"/>
          </a:xfrm>
          <a:prstGeom prst="rect">
            <a:avLst/>
          </a:prstGeom>
          <a:noFill/>
        </p:spPr>
        <p:txBody>
          <a:bodyPr wrap="none" lIns="0" tIns="0" rIns="0" bIns="0" rtlCol="0" anchor="t"/>
          <a:lstStyle/>
          <a:p>
            <a:pPr marL="0" indent="0" algn="l">
              <a:lnSpc>
                <a:spcPct val="77000"/>
              </a:lnSpc>
              <a:buNone/>
            </a:pPr>
            <a:r>
              <a:rPr lang="en-US" sz="6800" dirty="0">
                <a:solidFill>
                  <a:srgbClr val="000000"/>
                </a:solidFill>
                <a:latin typeface="Big Shoulders ExtraBold" pitchFamily="34" charset="0"/>
                <a:ea typeface="Big Shoulders ExtraBold" pitchFamily="34" charset="-122"/>
                <a:cs typeface="Big Shoulders ExtraBold" pitchFamily="34" charset="-120"/>
              </a:rPr>
              <a:t>1,66 MS</a:t>
            </a:r>
            <a:endParaRPr lang="en-US" sz="6800" dirty="0"/>
          </a:p>
        </p:txBody>
      </p:sp>
      <p:sp>
        <p:nvSpPr>
          <p:cNvPr id="6" name="Text 4"/>
          <p:cNvSpPr/>
          <p:nvPr/>
        </p:nvSpPr>
        <p:spPr>
          <a:xfrm>
            <a:off x="609585" y="4242018"/>
            <a:ext cx="3860703" cy="568920"/>
          </a:xfrm>
          <a:prstGeom prst="rect">
            <a:avLst/>
          </a:prstGeom>
          <a:noFill/>
        </p:spPr>
        <p:txBody>
          <a:bodyPr wrap="square" lIns="0" tIns="0" rIns="0" bIns="0" rtlCol="0" anchor="t">
            <a:normAutofit/>
          </a:bodyPr>
          <a:lstStyle/>
          <a:p>
            <a:pPr marL="0" indent="0" algn="l">
              <a:lnSpc>
                <a:spcPct val="117000"/>
              </a:lnSpc>
              <a:buNone/>
            </a:pPr>
            <a:r>
              <a:rPr lang="en-US" sz="1600" dirty="0">
                <a:solidFill>
                  <a:srgbClr val="000000"/>
                </a:solidFill>
                <a:latin typeface="Hanken Grotesk" pitchFamily="34" charset="0"/>
                <a:ea typeface="Hanken Grotesk" pitchFamily="34" charset="-122"/>
                <a:cs typeface="Hanken Grotesk" pitchFamily="34" charset="-120"/>
              </a:rPr>
              <a:t>Độ trễ trung vị với bộ suy luận viết bằng C (so với 5,08 ms trên Keras)</a:t>
            </a:r>
            <a:endParaRPr lang="en-US" sz="1600" dirty="0"/>
          </a:p>
        </p:txBody>
      </p:sp>
      <p:sp>
        <p:nvSpPr>
          <p:cNvPr id="7" name="Text 5"/>
          <p:cNvSpPr/>
          <p:nvPr/>
        </p:nvSpPr>
        <p:spPr>
          <a:xfrm>
            <a:off x="609585" y="5310684"/>
            <a:ext cx="3860703" cy="1248866"/>
          </a:xfrm>
          <a:prstGeom prst="rect">
            <a:avLst/>
          </a:prstGeom>
          <a:noFill/>
        </p:spPr>
        <p:txBody>
          <a:bodyPr wrap="square" lIns="0" tIns="786745" rIns="0" bIns="0" rtlCol="0" anchor="t">
            <a:normAutofit/>
          </a:bodyPr>
          <a:lstStyle/>
          <a:p>
            <a:pPr marL="0" indent="0" algn="l">
              <a:lnSpc>
                <a:spcPct val="108000"/>
              </a:lnSpc>
              <a:buNone/>
            </a:pPr>
            <a:r>
              <a:rPr lang="en-US" sz="1400" kern="100" spc="7" dirty="0">
                <a:solidFill>
                  <a:srgbClr val="000000"/>
                </a:solidFill>
                <a:latin typeface="Hanken Grotesk" pitchFamily="34" charset="0"/>
                <a:ea typeface="Hanken Grotesk" pitchFamily="34" charset="-122"/>
                <a:cs typeface="Hanken Grotesk" pitchFamily="34" charset="-120"/>
              </a:rPr>
              <a:t>MAE chỉ tăng 0,01 BPM sau khi lượng tử hóa (từ 0,54 lên 0,55 BPM).</a:t>
            </a:r>
            <a:endParaRPr lang="en-US" sz="1400" dirty="0"/>
          </a:p>
        </p:txBody>
      </p:sp>
      <p:sp>
        <p:nvSpPr>
          <p:cNvPr id="8" name="Text 6"/>
          <p:cNvSpPr/>
          <p:nvPr/>
        </p:nvSpPr>
        <p:spPr>
          <a:xfrm>
            <a:off x="5346566" y="574705"/>
            <a:ext cx="6235544" cy="868561"/>
          </a:xfrm>
          <a:prstGeom prst="rect">
            <a:avLst/>
          </a:prstGeom>
          <a:noFill/>
        </p:spPr>
        <p:txBody>
          <a:bodyPr wrap="square" lIns="0" tIns="0" rIns="0" bIns="0" rtlCol="0" anchor="t">
            <a:normAutofit/>
          </a:bodyPr>
          <a:lstStyle/>
          <a:p>
            <a:pPr marL="0" indent="0" algn="l">
              <a:lnSpc>
                <a:spcPct val="79000"/>
              </a:lnSpc>
              <a:buNone/>
            </a:pPr>
            <a:r>
              <a:rPr lang="en-US" sz="3600" kern="100" spc="18" dirty="0">
                <a:solidFill>
                  <a:srgbClr val="16171D"/>
                </a:solidFill>
                <a:latin typeface="Big Shoulders ExtraBold" pitchFamily="34" charset="0"/>
                <a:ea typeface="Big Shoulders ExtraBold" pitchFamily="34" charset="-122"/>
                <a:cs typeface="Big Shoulders ExtraBold" pitchFamily="34" charset="-120"/>
              </a:rPr>
              <a:t>ĐỀ TÀI 2: MÔ HÌNH NHỎ MỘT NỬA, SUY LUẬN NHANH HƠN 3 LẦN</a:t>
            </a:r>
            <a:endParaRPr lang="en-US" sz="3600" dirty="0"/>
          </a:p>
        </p:txBody>
      </p:sp>
      <p:sp>
        <p:nvSpPr>
          <p:cNvPr id="9" name="Text 7"/>
          <p:cNvSpPr/>
          <p:nvPr/>
        </p:nvSpPr>
        <p:spPr>
          <a:xfrm>
            <a:off x="5346566" y="1634232"/>
            <a:ext cx="6845129" cy="206375"/>
          </a:xfrm>
          <a:prstGeom prst="rect">
            <a:avLst/>
          </a:prstGeom>
          <a:noFill/>
        </p:spPr>
        <p:txBody>
          <a:bodyPr wrap="none" lIns="0" tIns="0" rIns="0" bIns="0" rtlCol="0" anchor="t"/>
          <a:lstStyle/>
          <a:p>
            <a:pPr marL="0" indent="0" algn="l">
              <a:lnSpc>
                <a:spcPct val="104000"/>
              </a:lnSpc>
              <a:buNone/>
            </a:pPr>
            <a:r>
              <a:rPr lang="en-US" sz="1300" kern="100" spc="13" dirty="0">
                <a:solidFill>
                  <a:srgbClr val="16171D"/>
                </a:solidFill>
                <a:latin typeface="Noto Sans Medium" panose="020B0502040504020204" pitchFamily="34" charset="0"/>
                <a:ea typeface="Noto Sans Medium" panose="020B0502040504020204" pitchFamily="34" charset="-122"/>
                <a:cs typeface="Noto Sans Medium" panose="020B0502040504020204" pitchFamily="34" charset="-120"/>
              </a:rPr>
              <a:t>Hiệu quả nén Dynamic Range Quantization</a:t>
            </a:r>
            <a:endParaRPr lang="en-US" sz="1300" dirty="0"/>
          </a:p>
        </p:txBody>
      </p:sp>
      <p:pic>
        <p:nvPicPr>
          <p:cNvPr id="10" name="Image 0" descr="preencoded.png"/>
          <p:cNvPicPr>
            <a:picLocks noChangeAspect="1"/>
          </p:cNvPicPr>
          <p:nvPr/>
        </p:nvPicPr>
        <p:blipFill>
          <a:blip r:embed="rId1"/>
          <a:stretch>
            <a:fillRect/>
          </a:stretch>
        </p:blipFill>
        <p:spPr>
          <a:xfrm>
            <a:off x="5346566" y="2016522"/>
            <a:ext cx="6235544" cy="3250902"/>
          </a:xfrm>
          <a:prstGeom prst="rect">
            <a:avLst/>
          </a:prstGeom>
        </p:spPr>
      </p:pic>
      <p:sp>
        <p:nvSpPr>
          <p:cNvPr id="11" name="Text 8"/>
          <p:cNvSpPr/>
          <p:nvPr/>
        </p:nvSpPr>
        <p:spPr>
          <a:xfrm>
            <a:off x="5346566" y="5356781"/>
            <a:ext cx="6235544" cy="472678"/>
          </a:xfrm>
          <a:prstGeom prst="rect">
            <a:avLst/>
          </a:prstGeom>
          <a:noFill/>
        </p:spPr>
        <p:txBody>
          <a:bodyPr wrap="square" lIns="0" tIns="10541" rIns="0" bIns="0" rtlCol="0" anchor="t">
            <a:normAutofit/>
          </a:bodyPr>
          <a:lstStyle/>
          <a:p>
            <a:pPr marL="0" indent="0" algn="l">
              <a:lnSpc>
                <a:spcPct val="108000"/>
              </a:lnSpc>
              <a:buNone/>
            </a:pPr>
            <a:r>
              <a:rPr lang="en-US" sz="1400" kern="100" spc="7" dirty="0">
                <a:solidFill>
                  <a:srgbClr val="4E5058"/>
                </a:solidFill>
                <a:latin typeface="Hanken Grotesk" pitchFamily="34" charset="0"/>
                <a:ea typeface="Hanken Grotesk" pitchFamily="34" charset="-122"/>
                <a:cs typeface="Hanken Grotesk" pitchFamily="34" charset="-120"/>
              </a:rPr>
              <a:t>Giảm 50,4% kích thước (từ 128,2 KiB xuống còn 63,5 KiB), dễ dàng lưu trữ trong bộ nhớ Flash và nạp vào SRAM của các vi điều khiển nhúng cỡ nhỏ.</a:t>
            </a:r>
            <a:endParaRPr lang="en-US" sz="1400" dirty="0"/>
          </a:p>
        </p:txBody>
      </p:sp>
      <p:pic>
        <p:nvPicPr>
          <p:cNvPr id="12" name="Image 1" descr="preencoded.png"/>
          <p:cNvPicPr>
            <a:picLocks noChangeAspect="1"/>
          </p:cNvPicPr>
          <p:nvPr/>
        </p:nvPicPr>
        <p:blipFill>
          <a:blip r:embed="rId2"/>
          <a:stretch>
            <a:fillRect/>
          </a:stretch>
        </p:blipFill>
        <p:spPr>
          <a:xfrm>
            <a:off x="11077000" y="6559252"/>
            <a:ext cx="1071833" cy="255984"/>
          </a:xfrm>
          <a:prstGeom prst="rect">
            <a:avLst/>
          </a:prstGeom>
          <a:solidFill>
            <a:schemeClr val="bg1"/>
          </a:solid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 0"/>
          <p:cNvSpPr/>
          <p:nvPr/>
        </p:nvSpPr>
        <p:spPr>
          <a:xfrm>
            <a:off x="609585" y="661601"/>
            <a:ext cx="11539249" cy="579041"/>
          </a:xfrm>
          <a:prstGeom prst="rect">
            <a:avLst/>
          </a:prstGeom>
          <a:noFill/>
        </p:spPr>
        <p:txBody>
          <a:bodyPr wrap="none" lIns="0" tIns="0" rIns="0" bIns="0" rtlCol="0" anchor="t"/>
          <a:lstStyle/>
          <a:p>
            <a:pPr marL="0" indent="0" algn="l">
              <a:lnSpc>
                <a:spcPct val="79000"/>
              </a:lnSpc>
              <a:buNone/>
            </a:pPr>
            <a:r>
              <a:rPr lang="en-US" sz="4800" kern="100" spc="24" dirty="0">
                <a:solidFill>
                  <a:srgbClr val="16171D"/>
                </a:solidFill>
                <a:latin typeface="Big Shoulders ExtraBold" pitchFamily="34" charset="0"/>
                <a:ea typeface="Big Shoulders ExtraBold" pitchFamily="34" charset="-122"/>
                <a:cs typeface="Big Shoulders ExtraBold" pitchFamily="34" charset="-120"/>
              </a:rPr>
              <a:t>KẾT LUẬN VÀ HƯỚNG PHÁT TRIỂN CHUNG</a:t>
            </a:r>
            <a:endParaRPr lang="en-US" sz="4800" dirty="0"/>
          </a:p>
        </p:txBody>
      </p:sp>
      <p:sp>
        <p:nvSpPr>
          <p:cNvPr id="3" name="Text 1"/>
          <p:cNvSpPr/>
          <p:nvPr/>
        </p:nvSpPr>
        <p:spPr>
          <a:xfrm>
            <a:off x="609585" y="1345704"/>
            <a:ext cx="7115791" cy="206375"/>
          </a:xfrm>
          <a:prstGeom prst="rect">
            <a:avLst/>
          </a:prstGeom>
          <a:noFill/>
        </p:spPr>
        <p:txBody>
          <a:bodyPr wrap="none" lIns="0" tIns="0" rIns="0" bIns="0" rtlCol="0" anchor="t"/>
          <a:lstStyle/>
          <a:p>
            <a:pPr marL="0" indent="0" algn="l">
              <a:lnSpc>
                <a:spcPct val="104000"/>
              </a:lnSpc>
              <a:buNone/>
            </a:pPr>
            <a:endParaRPr lang="en-US" sz="1300" dirty="0"/>
          </a:p>
        </p:txBody>
      </p:sp>
      <p:sp>
        <p:nvSpPr>
          <p:cNvPr id="5" name="Text 3"/>
          <p:cNvSpPr/>
          <p:nvPr/>
        </p:nvSpPr>
        <p:spPr>
          <a:xfrm>
            <a:off x="609585" y="2520474"/>
            <a:ext cx="2609090" cy="277416"/>
          </a:xfrm>
          <a:prstGeom prst="rect">
            <a:avLst/>
          </a:prstGeom>
          <a:noFill/>
        </p:spPr>
        <p:txBody>
          <a:bodyPr wrap="none" lIns="609585" tIns="0" rIns="0"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Đề tài 1</a:t>
            </a:r>
            <a:endParaRPr lang="en-US" sz="1900" dirty="0"/>
          </a:p>
        </p:txBody>
      </p:sp>
      <p:sp>
        <p:nvSpPr>
          <p:cNvPr id="7" name="Text 5"/>
          <p:cNvSpPr/>
          <p:nvPr/>
        </p:nvSpPr>
        <p:spPr>
          <a:xfrm>
            <a:off x="3214865" y="2520474"/>
            <a:ext cx="4506701" cy="277416"/>
          </a:xfrm>
          <a:prstGeom prst="rect">
            <a:avLst/>
          </a:prstGeom>
          <a:noFill/>
        </p:spPr>
        <p:txBody>
          <a:bodyPr wrap="none" lIns="1251554" tIns="0" rIns="4064" bIns="0" rtlCol="0" anchor="t"/>
          <a:lstStyle/>
          <a:p>
            <a:pPr marL="0" indent="0" algn="l">
              <a:lnSpc>
                <a:spcPct val="96000"/>
              </a:lnSpc>
              <a:buNone/>
            </a:pPr>
            <a:r>
              <a:rPr lang="en-US" sz="1900" b="1" kern="100" spc="-9" dirty="0">
                <a:solidFill>
                  <a:srgbClr val="16171D"/>
                </a:solidFill>
                <a:latin typeface="Hanken Grotesk Bold" pitchFamily="34" charset="0"/>
                <a:ea typeface="Hanken Grotesk Bold" pitchFamily="34" charset="-122"/>
                <a:cs typeface="Hanken Grotesk Bold" pitchFamily="34" charset="-120"/>
              </a:rPr>
              <a:t>Đề tài 2</a:t>
            </a:r>
            <a:endParaRPr lang="en-US" sz="1900" dirty="0"/>
          </a:p>
        </p:txBody>
      </p:sp>
      <p:sp>
        <p:nvSpPr>
          <p:cNvPr id="8" name="Text 6"/>
          <p:cNvSpPr/>
          <p:nvPr/>
        </p:nvSpPr>
        <p:spPr>
          <a:xfrm>
            <a:off x="1219070" y="3266896"/>
            <a:ext cx="2787580" cy="1137841"/>
          </a:xfrm>
          <a:prstGeom prst="rect">
            <a:avLst/>
          </a:prstGeom>
          <a:noFill/>
        </p:spPr>
        <p:txBody>
          <a:bodyPr wrap="square" lIns="0" tIns="0" rIns="0" bIns="0" rtlCol="0" anchor="t">
            <a:noAutofit/>
          </a:bodyPr>
          <a:lstStyle/>
          <a:p>
            <a:pPr marL="0" indent="0" algn="l">
              <a:lnSpc>
                <a:spcPct val="117000"/>
              </a:lnSpc>
              <a:buNone/>
            </a:pPr>
            <a:r>
              <a:rPr lang="en-US" dirty="0">
                <a:solidFill>
                  <a:srgbClr val="16171D"/>
                </a:solidFill>
                <a:latin typeface="Hanken Grotesk" pitchFamily="34" charset="0"/>
                <a:ea typeface="Hanken Grotesk" pitchFamily="34" charset="-122"/>
                <a:cs typeface="Hanken Grotesk" pitchFamily="34" charset="-120"/>
              </a:rPr>
              <a:t>Nguyên mẫu IoT ổn định, đo gần với máy chuyên dụng, có lưu trữ đám mây và cảnh báo SOS.</a:t>
            </a:r>
            <a:endParaRPr lang="en-US" dirty="0">
              <a:solidFill>
                <a:srgbClr val="16171D"/>
              </a:solidFill>
              <a:latin typeface="Hanken Grotesk" pitchFamily="34" charset="0"/>
              <a:ea typeface="Hanken Grotesk" pitchFamily="34" charset="-122"/>
              <a:cs typeface="Hanken Grotesk" pitchFamily="34" charset="-120"/>
            </a:endParaRPr>
          </a:p>
        </p:txBody>
      </p:sp>
      <p:sp>
        <p:nvSpPr>
          <p:cNvPr id="9" name="Text 7"/>
          <p:cNvSpPr/>
          <p:nvPr/>
        </p:nvSpPr>
        <p:spPr>
          <a:xfrm>
            <a:off x="4470189" y="3266896"/>
            <a:ext cx="3251019" cy="1137841"/>
          </a:xfrm>
          <a:prstGeom prst="rect">
            <a:avLst/>
          </a:prstGeom>
          <a:noFill/>
        </p:spPr>
        <p:txBody>
          <a:bodyPr wrap="square" lIns="0" tIns="0" rIns="0" bIns="0" rtlCol="0" anchor="t">
            <a:noAutofit/>
          </a:bodyPr>
          <a:lstStyle/>
          <a:p>
            <a:pPr marL="0" indent="0" algn="l">
              <a:lnSpc>
                <a:spcPct val="117000"/>
              </a:lnSpc>
              <a:buNone/>
            </a:pPr>
            <a:r>
              <a:rPr lang="en-US" dirty="0">
                <a:solidFill>
                  <a:srgbClr val="16171D"/>
                </a:solidFill>
                <a:latin typeface="Hanken Grotesk" pitchFamily="34" charset="0"/>
                <a:ea typeface="Hanken Grotesk" pitchFamily="34" charset="-122"/>
                <a:cs typeface="Hanken Grotesk" pitchFamily="34" charset="-120"/>
              </a:rPr>
              <a:t>Mô hình siêu nhẹ đạt MAE dưới 1 BPM, nhưng LSTM cần Flex delegate nên chưa chạy trên ESP32; dữ liệu mới là tổng hợp.</a:t>
            </a:r>
            <a:endParaRPr lang="en-US" dirty="0">
              <a:solidFill>
                <a:srgbClr val="16171D"/>
              </a:solidFill>
              <a:latin typeface="Hanken Grotesk" pitchFamily="34" charset="0"/>
              <a:ea typeface="Hanken Grotesk" pitchFamily="34" charset="-122"/>
              <a:cs typeface="Hanken Grotesk" pitchFamily="34" charset="-120"/>
            </a:endParaRPr>
          </a:p>
        </p:txBody>
      </p:sp>
      <p:sp>
        <p:nvSpPr>
          <p:cNvPr id="10" name="Shape 8"/>
          <p:cNvSpPr/>
          <p:nvPr/>
        </p:nvSpPr>
        <p:spPr>
          <a:xfrm>
            <a:off x="4260644" y="2220615"/>
            <a:ext cx="12600" cy="4637286"/>
          </a:xfrm>
          <a:prstGeom prst="rect">
            <a:avLst/>
          </a:prstGeom>
          <a:solidFill>
            <a:srgbClr val="16171D"/>
          </a:solidFill>
        </p:spPr>
      </p:sp>
      <p:sp>
        <p:nvSpPr>
          <p:cNvPr id="12" name="Shape 9"/>
          <p:cNvSpPr/>
          <p:nvPr/>
        </p:nvSpPr>
        <p:spPr>
          <a:xfrm>
            <a:off x="7924800" y="2220595"/>
            <a:ext cx="4291965" cy="4637405"/>
          </a:xfrm>
          <a:prstGeom prst="rect">
            <a:avLst/>
          </a:prstGeom>
          <a:solidFill>
            <a:schemeClr val="accent2">
              <a:lumMod val="20000"/>
              <a:lumOff val="80000"/>
            </a:schemeClr>
          </a:solidFill>
        </p:spPr>
        <p:txBody>
          <a:bodyPr/>
          <a:p>
            <a:endParaRPr lang="en-US"/>
          </a:p>
        </p:txBody>
      </p:sp>
      <p:sp>
        <p:nvSpPr>
          <p:cNvPr id="14" name="Text 11"/>
          <p:cNvSpPr/>
          <p:nvPr/>
        </p:nvSpPr>
        <p:spPr>
          <a:xfrm>
            <a:off x="8128332" y="2520375"/>
            <a:ext cx="3397165" cy="277416"/>
          </a:xfrm>
          <a:prstGeom prst="rect">
            <a:avLst/>
          </a:prstGeom>
          <a:noFill/>
        </p:spPr>
        <p:txBody>
          <a:bodyPr wrap="none" lIns="0" tIns="0" rIns="0" bIns="0" rtlCol="0" anchor="t"/>
          <a:lstStyle/>
          <a:p>
            <a:pPr marL="0" indent="0" algn="l">
              <a:lnSpc>
                <a:spcPct val="96000"/>
              </a:lnSpc>
              <a:buNone/>
            </a:pPr>
            <a:r>
              <a:rPr lang="en-US" sz="1900" b="1" kern="100" spc="-9" dirty="0">
                <a:solidFill>
                  <a:srgbClr val="000000"/>
                </a:solidFill>
                <a:latin typeface="Hanken Grotesk Bold" pitchFamily="34" charset="0"/>
                <a:ea typeface="Hanken Grotesk Bold" pitchFamily="34" charset="-122"/>
                <a:cs typeface="Hanken Grotesk Bold" pitchFamily="34" charset="-120"/>
              </a:rPr>
              <a:t>Hướng phát triển</a:t>
            </a:r>
            <a:endParaRPr lang="en-US" sz="1900" dirty="0"/>
          </a:p>
        </p:txBody>
      </p:sp>
      <p:sp>
        <p:nvSpPr>
          <p:cNvPr id="15" name="Text 12"/>
          <p:cNvSpPr/>
          <p:nvPr/>
        </p:nvSpPr>
        <p:spPr>
          <a:xfrm>
            <a:off x="8127697" y="3266797"/>
            <a:ext cx="2844729" cy="1422301"/>
          </a:xfrm>
          <a:prstGeom prst="rect">
            <a:avLst/>
          </a:prstGeom>
          <a:noFill/>
        </p:spPr>
        <p:txBody>
          <a:bodyPr wrap="square" lIns="0" tIns="0" rIns="0" bIns="0" rtlCol="0" anchor="t">
            <a:noAutofit/>
          </a:bodyPr>
          <a:lstStyle/>
          <a:p>
            <a:pPr marL="0" indent="0" algn="l">
              <a:lnSpc>
                <a:spcPct val="117000"/>
              </a:lnSpc>
              <a:buNone/>
            </a:pPr>
            <a:r>
              <a:rPr lang="en-US" dirty="0">
                <a:solidFill>
                  <a:srgbClr val="000000"/>
                </a:solidFill>
                <a:latin typeface="Hanken Grotesk" pitchFamily="34" charset="0"/>
                <a:ea typeface="Hanken Grotesk" pitchFamily="34" charset="-122"/>
                <a:cs typeface="Hanken Grotesk" pitchFamily="34" charset="-120"/>
              </a:rPr>
              <a:t>Huấn luyện trên PPG thật (MAX30102, BIDMC), thay LSTM bằng GRU/TCN, lượng tử hóa INT8, rồi chạy mô hình trên thiết bị của đề tài 1.</a:t>
            </a:r>
            <a:endParaRPr lang="en-US" dirty="0">
              <a:solidFill>
                <a:srgbClr val="000000"/>
              </a:solidFill>
              <a:latin typeface="Hanken Grotesk" pitchFamily="34" charset="0"/>
              <a:ea typeface="Hanken Grotesk" pitchFamily="34" charset="-122"/>
              <a:cs typeface="Hanken Grotesk" pitchFamily="34" charset="-120"/>
            </a:endParaRPr>
          </a:p>
        </p:txBody>
      </p:sp>
      <p:sp>
        <p:nvSpPr>
          <p:cNvPr id="16" name="Shape 13"/>
          <p:cNvSpPr/>
          <p:nvPr/>
        </p:nvSpPr>
        <p:spPr>
          <a:xfrm>
            <a:off x="7918153" y="2220416"/>
            <a:ext cx="12700" cy="4637385"/>
          </a:xfrm>
          <a:prstGeom prst="rect">
            <a:avLst/>
          </a:prstGeom>
          <a:solidFill>
            <a:srgbClr val="16171D"/>
          </a:solidFill>
        </p:spPr>
      </p:sp>
      <p:sp>
        <p:nvSpPr>
          <p:cNvPr id="18" name="Text Box 17"/>
          <p:cNvSpPr txBox="1"/>
          <p:nvPr/>
        </p:nvSpPr>
        <p:spPr>
          <a:xfrm>
            <a:off x="6258560" y="4824095"/>
            <a:ext cx="4064000" cy="368300"/>
          </a:xfrm>
          <a:prstGeom prst="rect">
            <a:avLst/>
          </a:prstGeom>
          <a:noFill/>
        </p:spPr>
        <p:txBody>
          <a:bodyPr wrap="square" rtlCol="0">
            <a:spAutoFit/>
          </a:bodyPr>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4672</Words>
  <Application>WPS Presentation</Application>
  <PresentationFormat>On-screen Show (16:9)</PresentationFormat>
  <Paragraphs>251</Paragraphs>
  <Slides>10</Slides>
  <Notes>10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10</vt:i4>
      </vt:variant>
    </vt:vector>
  </HeadingPairs>
  <TitlesOfParts>
    <vt:vector size="32" baseType="lpstr">
      <vt:lpstr>Arial</vt:lpstr>
      <vt:lpstr>SimSun</vt:lpstr>
      <vt:lpstr>Wingdings</vt:lpstr>
      <vt:lpstr>Noto Sans</vt:lpstr>
      <vt:lpstr>Noto Sans</vt:lpstr>
      <vt:lpstr>Noto Sans</vt:lpstr>
      <vt:lpstr>Big Shoulders ExtraBold</vt:lpstr>
      <vt:lpstr>Big Shoulders ExtraBold</vt:lpstr>
      <vt:lpstr>Big Shoulders ExtraBold</vt:lpstr>
      <vt:lpstr>Hanken Grotesk Bold</vt:lpstr>
      <vt:lpstr>Hanken Grotesk Bold</vt:lpstr>
      <vt:lpstr>Hanken Grotesk Bold</vt:lpstr>
      <vt:lpstr>Hanken Grotesk</vt:lpstr>
      <vt:lpstr>Hanken Grotesk</vt:lpstr>
      <vt:lpstr>Hanken Grotesk</vt:lpstr>
      <vt:lpstr>Noto Sans Medium</vt:lpstr>
      <vt:lpstr>Noto Sans Medium</vt:lpstr>
      <vt:lpstr>Noto Sans Medium</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Công Minh Trịnh</cp:lastModifiedBy>
  <cp:revision>6</cp:revision>
  <dcterms:created xsi:type="dcterms:W3CDTF">2026-10-19T07:25:00Z</dcterms:created>
  <dcterms:modified xsi:type="dcterms:W3CDTF">2026-10-27T09:52:37Z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40A9EC84991E4DEAB3EA90C28F9FE504_12</vt:lpwstr>
  </property>
</Properties>
</file>